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avance de la semana 10. Se presenta el producto funcionando en el teléfono, el estado frente al plan de trabajo, un defecto real que encontramos y corregimos, el modelo de negocio y los siguientes pasos. El mensaje central: el MVP local está completo y es sólido; el backend es la siguiente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diferenciador de NEXO frente a apps de control total es el contexto: el apoderado define períodos, como la jornada escolar, y recibe un informe de lo que el menor usó en ese período. Caso de uso único de la primera versión: la jornada escolar.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Decisiones éticas y técnicas deliberadas del equipo: usar únicamente mecanismos oficiales, no leer contenido privado, y proteger el PIN con hash. Android no permite pedir el permiso de uso con un diálogo estándar, por eso el apoderado lo activa a mano en Ajustes y la app lo detecta.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Cambios respecto al proyecto original. Lo que cambió son ajustes y mejoras surgidas al probar: seis categorías en vez de cuatro, la pantalla Actividad (que era la prueba de factibilidad) se integró en Estadísticas, informes con PDF, PIN también al abrir, feriados y días sin clases, y tema claro y oscuro. El cambio de prioridad más importante: el backend y el correo, que figuraban como etapa 11 del informe técnico, pasan a la siguiente fase para consolidar primero un MVP local sólido. Lo que no cambió: el alcance ético, sin GPS, sin bloqueo de apps y sin leer mensajes.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88 % es la cantidad de semanas de actividades completadas sobre el total planificado (14 de 16 semanas); Pruebas y cierre, de 2 semanas, está en curso. Todas las actividades del plan de trabajo de la Fase 1 están completas, salvo Pruebas y cierre, que está en curso y es lo que corresponde a esta etapa. Además del plan se agregaron mejoras: tema claro y oscuro, días sin clases y feriados, informes en PDF, pruebas unitarias y una auditoría de código. El backend no figura en la tabla del plan de trabajo; es la siguiente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MVVM con las carpetas ui, viewmodel, data, domain, monitoring y utils. Android restringe el trabajo en segundo plano, por eso no hay un proceso corriendo todo el día: UsageStatsManager registra el uso en el sistema y WorkManager consulta y guarda el informe al terminar cada jornada. Room usa migraciones explícitas, nunca se borra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tecnológico por capas, con el logo de cada tecnología que tiene uno. Todo lo sólido ya está en uso en la app; lo punteado, Django REST y PostgreSQL, es la siguiente fase. Recorrer de arriba hacia abajo: interfaz en Compose, lógica con Kotlin y MVVM, datos locales con Room sobre SQLite, las piezas de Android que hacen el monitoreo (UsageStatsManager y WorkManager son parte de Android), seguridad e informes, y las herramientas de trabajo del equipo. MVVM, Flow, KSP, SHA-256 y similares son patrones o utilidades sin logo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completo con los componentes ya mencionados. Se configura una jornada y se guarda en Room. WorkManager agenda el informe. Android registra el uso por su cuenta, así que NEXO no necesita estar corriendo todo el día. Al terminar la jornada, el Worker consulta UsageStatsManager con la fecha de la jornada, clasifica cada app por categoría y guarda el informe en Room. La interfaz lee esos datos para mostrar Inicio, Estadísticas e Informes, y genera el PDF. Después de esta diapositiva viene la demo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va la demostración en vivo en el teléfono: el profesor prefiere que NO sea en video, así que el video queda solo como respaldo de emergencia. Seis categorías: Educación, Comunicación, Redes Sociales, Entretenimiento, Juegos y Otros. Mostrar: crear una jornada, ver Inicio y Estadísticas con datos reales, abrir un informe y su PDF, y el cambio de tema claro y oscuro. Si se puede, agregar capturas de pantalla actuales en esta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las pruebas notamos que los informes automáticos salían en 0 minutos, aunque Inicio y Estadísticas mostraban el uso real. Con un diagnóstico de solo lectura y logs identificamos la causa: el informe usaba la fecha del momento en que corría el proceso y no la fecha de la jornada. Si Android retrasaba el proceso, el rango quedaba invertido. Lo corregimos con fecha explícita y verificamos que los informes nuevos salen con datos. Los informes en 0 anteriores se conservan como evidencia del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23 tests son 14 de lógica de jornadas, 6 del clasificador de categorías y 3 del hash del PIN. Se hizo una auditoría del proyecto con hallazgos críticos, importantes y menores; los urgentes se corrigieron. Hay mejoras identificadas que quedan pendientes y se declaran como trabajo futuro, por ejemplo pedir el PIN siempre al reabrir si Android cierra la app. Todo se probó en un teléfono Samsung físico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día sin informe no es un error: es el comportamiento diseñado. La app no genera informe en días que no son de la jornada, en feriados ni en días sin clases. El teléfono sí registra el uso todos los días; lo que decide la app es cuándo corresponde un informe. Mostrar la pantalla de Informes del teléfono como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negocio, presentado como diseño y no como algo implementado todavía. La seguridad básica, incluida la verificación en dos pasos, es gratuita para que sea segura para todos. Premium aporta conveniencia, historial y análisis, y todo eso depende del backend, que es la siguiente fase. No hay cobro implementado en el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es deliberado: primero cerrar y probar el MVP local, después el backend. Lo que depende del backend es la verificación en dos pasos, el correo, el historial en la nube y la analítica avanzada. La mejora del PIN al reabrir ya está identificada por la auditoría de código y es la primera corrección a hacer. La pausa temporal de la supervisión está en análisis con 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MVP local está completo y probado en un teléfono físico; el backend y Premium son la siguiente fase. Quedar disponibles para preguntas y para mostrar la app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AF2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720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7203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AF2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720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7203E"/>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203E"/>
              </a:gs>
              <a:gs pos="100000">
                <a:srgbClr val="065A82"/>
              </a:gs>
            </a:gsLst>
            <a:lin ang="2700000" scaled="0"/>
          </a:gradFill>
          <a:ln/>
        </p:spPr>
      </p:sp>
      <p:pic>
        <p:nvPicPr>
          <p:cNvPr id="3" name="Image 0" descr="Verified">    </p:cNvPr>
          <p:cNvPicPr>
            <a:picLocks noChangeAspect="1"/>
          </p:cNvPicPr>
          <p:nvPr/>
        </p:nvPicPr>
        <p:blipFill>
          <a:blip r:embed="rId1"/>
          <a:srcRect l="0" r="0" t="0" b="0"/>
          <a:stretch/>
        </p:blipFill>
        <p:spPr>
          <a:xfrm>
            <a:off x="812800" y="1767880"/>
            <a:ext cx="609600" cy="609600"/>
          </a:xfrm>
          <a:prstGeom prst="rect">
            <a:avLst/>
          </a:prstGeom>
        </p:spPr>
      </p:pic>
      <p:sp>
        <p:nvSpPr>
          <p:cNvPr id="4" name="Text 1"/>
          <p:cNvSpPr/>
          <p:nvPr/>
        </p:nvSpPr>
        <p:spPr>
          <a:xfrm>
            <a:off x="812800" y="2580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96167"/>
                </a:solidFill>
                <a:latin typeface="DM Sans" pitchFamily="34" charset="0"/>
                <a:ea typeface="DM Sans" pitchFamily="34" charset="-122"/>
                <a:cs typeface="DM Sans" pitchFamily="34" charset="-120"/>
              </a:rPr>
              <a:t>PORTAFOLIO DE TÍTULO · DUOC UC · AVANCE SEMANA 10</a:t>
            </a:r>
            <a:endParaRPr lang="en-US" sz="1200" dirty="0"/>
          </a:p>
        </p:txBody>
      </p:sp>
      <p:sp>
        <p:nvSpPr>
          <p:cNvPr id="5" name="Text 2"/>
          <p:cNvSpPr/>
          <p:nvPr>
            <p:ph type="title"/>
          </p:nvPr>
        </p:nvSpPr>
        <p:spPr>
          <a:xfrm>
            <a:off x="812800" y="29972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spc="400" kern="0" dirty="0">
                <a:solidFill>
                  <a:srgbClr val="EAF2F6"/>
                </a:solidFill>
                <a:latin typeface="EB Garamond" pitchFamily="18" charset="0"/>
                <a:ea typeface="EB Garamond" pitchFamily="18" charset="-122"/>
                <a:cs typeface="EB Garamond" pitchFamily="18" charset="-120"/>
              </a:rPr>
              <a:t>NEXO</a:t>
            </a:r>
            <a:endParaRPr lang="en-US" sz="6000" dirty="0"/>
          </a:p>
        </p:txBody>
      </p:sp>
      <p:sp>
        <p:nvSpPr>
          <p:cNvPr id="6" name="Text 3"/>
          <p:cNvSpPr/>
          <p:nvPr/>
        </p:nvSpPr>
        <p:spPr>
          <a:xfrm>
            <a:off x="812800" y="40386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EAF2F6"/>
                </a:solidFill>
                <a:latin typeface="DM Sans" pitchFamily="34" charset="0"/>
                <a:ea typeface="DM Sans" pitchFamily="34" charset="-122"/>
                <a:cs typeface="DM Sans" pitchFamily="34" charset="-120"/>
              </a:rPr>
              <a:t>Supervisión parental por jornadas, con datos oficiales de Android</a:t>
            </a:r>
            <a:endParaRPr lang="en-US" sz="2200" dirty="0"/>
          </a:p>
        </p:txBody>
      </p:sp>
      <p:pic>
        <p:nvPicPr>
          <p:cNvPr id="7" name="Image 1" descr="line">    </p:cNvPr>
          <p:cNvPicPr>
            <a:picLocks noChangeAspect="1"/>
          </p:cNvPicPr>
          <p:nvPr/>
        </p:nvPicPr>
        <p:blipFill>
          <a:blip r:embed="rId2"/>
          <a:srcRect l="0" r="0" t="0" b="0"/>
          <a:stretch/>
        </p:blipFill>
        <p:spPr>
          <a:xfrm>
            <a:off x="812800" y="4577060"/>
            <a:ext cx="1016000" cy="25400"/>
          </a:xfrm>
          <a:prstGeom prst="rect">
            <a:avLst/>
          </a:prstGeom>
        </p:spPr>
      </p:pic>
      <p:sp>
        <p:nvSpPr>
          <p:cNvPr id="8" name="Text 4"/>
          <p:cNvSpPr/>
          <p:nvPr/>
        </p:nvSpPr>
        <p:spPr>
          <a:xfrm>
            <a:off x="812800" y="48056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Matias Esquerra · Cristopher Paredes · Martín Muñoz · Cristóbal Monsalves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Supervisar el contexto, no todo el día</a:t>
            </a:r>
            <a:endParaRPr lang="en-US" sz="3600" dirty="0"/>
          </a:p>
        </p:txBody>
      </p:sp>
      <p:sp>
        <p:nvSpPr>
          <p:cNvPr id="3" name="Shape 1"/>
          <p:cNvSpPr/>
          <p:nvPr/>
        </p:nvSpPr>
        <p:spPr>
          <a:xfrm>
            <a:off x="815975" y="1623616"/>
            <a:ext cx="5181600" cy="2251670"/>
          </a:xfrm>
          <a:prstGeom prst="roundRect">
            <a:avLst>
              <a:gd name="adj" fmla="val 4371"/>
            </a:avLst>
          </a:prstGeom>
          <a:solidFill>
            <a:srgbClr val="FAFCFD"/>
          </a:solidFill>
          <a:ln w="6350">
            <a:solidFill>
              <a:srgbClr val="CFDCE4"/>
            </a:solidFill>
            <a:prstDash val="solid"/>
          </a:ln>
        </p:spPr>
      </p:sp>
      <p:sp>
        <p:nvSpPr>
          <p:cNvPr id="4" name="Text 2"/>
          <p:cNvSpPr/>
          <p:nvPr/>
        </p:nvSpPr>
        <p:spPr>
          <a:xfrm>
            <a:off x="1073150" y="1880791"/>
            <a:ext cx="4807268"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Supervisión del dispositivo completo</a:t>
            </a:r>
            <a:endParaRPr lang="en-US" sz="2200" dirty="0"/>
          </a:p>
        </p:txBody>
      </p:sp>
      <p:sp>
        <p:nvSpPr>
          <p:cNvPr id="5" name="Text 3"/>
          <p:cNvSpPr/>
          <p:nvPr/>
        </p:nvSpPr>
        <p:spPr>
          <a:xfrm>
            <a:off x="1137158" y="2703711"/>
            <a:ext cx="4735640"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Monitoreo durante todo el día</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Sin distinguir entre contextos</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Configuración global del teléfono</a:t>
            </a:r>
            <a:endParaRPr lang="en-US" sz="1600" dirty="0"/>
          </a:p>
        </p:txBody>
      </p:sp>
      <p:sp>
        <p:nvSpPr>
          <p:cNvPr id="6" name="Shape 4"/>
          <p:cNvSpPr/>
          <p:nvPr/>
        </p:nvSpPr>
        <p:spPr>
          <a:xfrm>
            <a:off x="6203950" y="1620441"/>
            <a:ext cx="5175250" cy="2258020"/>
          </a:xfrm>
          <a:prstGeom prst="roundRect">
            <a:avLst>
              <a:gd name="adj" fmla="val 4500"/>
            </a:avLst>
          </a:prstGeom>
          <a:solidFill>
            <a:srgbClr val="065A82"/>
          </a:solidFill>
          <a:ln/>
        </p:spPr>
      </p:sp>
      <p:sp>
        <p:nvSpPr>
          <p:cNvPr id="7" name="Text 5"/>
          <p:cNvSpPr/>
          <p:nvPr/>
        </p:nvSpPr>
        <p:spPr>
          <a:xfrm>
            <a:off x="6457950" y="1874441"/>
            <a:ext cx="480726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NEXO: supervisión por jornadas</a:t>
            </a:r>
            <a:endParaRPr lang="en-US" sz="2200" dirty="0"/>
          </a:p>
        </p:txBody>
      </p:sp>
      <p:sp>
        <p:nvSpPr>
          <p:cNvPr id="8" name="Text 6"/>
          <p:cNvSpPr/>
          <p:nvPr/>
        </p:nvSpPr>
        <p:spPr>
          <a:xfrm>
            <a:off x="6521958" y="2362101"/>
            <a:ext cx="4735640" cy="12446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Jornadas configurables, por ejemplo la escolar de 08:00 a 14:00</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Informe al terminar cada jornada</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Solo uso de apps, sin contenido privado</a:t>
            </a:r>
            <a:endParaRPr lang="en-US" sz="1600" dirty="0"/>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203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AF2F6"/>
                </a:solidFill>
                <a:latin typeface="EB Garamond" pitchFamily="18" charset="0"/>
                <a:ea typeface="EB Garamond" pitchFamily="18" charset="-122"/>
                <a:cs typeface="EB Garamond" pitchFamily="18" charset="-120"/>
              </a:rPr>
              <a:t>Principios que no se negocian</a:t>
            </a:r>
            <a:endParaRPr lang="en-US" sz="3600" dirty="0"/>
          </a:p>
        </p:txBody>
      </p:sp>
      <p:sp>
        <p:nvSpPr>
          <p:cNvPr id="3" name="Shape 1"/>
          <p:cNvSpPr/>
          <p:nvPr/>
        </p:nvSpPr>
        <p:spPr>
          <a:xfrm>
            <a:off x="815975" y="1623616"/>
            <a:ext cx="3380284" cy="2698651"/>
          </a:xfrm>
          <a:prstGeom prst="roundRect">
            <a:avLst>
              <a:gd name="adj" fmla="val 3647"/>
            </a:avLst>
          </a:prstGeom>
          <a:solidFill>
            <a:srgbClr val="22305A"/>
          </a:solidFill>
          <a:ln w="6350">
            <a:solidFill>
              <a:srgbClr val="34457A"/>
            </a:solidFill>
            <a:prstDash val="solid"/>
          </a:ln>
        </p:spPr>
      </p:sp>
      <p:pic>
        <p:nvPicPr>
          <p:cNvPr id="4" name="Image 0" descr="Verified">    </p:cNvPr>
          <p:cNvPicPr>
            <a:picLocks noChangeAspect="1"/>
          </p:cNvPicPr>
          <p:nvPr/>
        </p:nvPicPr>
        <p:blipFill>
          <a:blip r:embed="rId1"/>
          <a:srcRect l="0" r="0" t="0" b="0"/>
          <a:stretch/>
        </p:blipFill>
        <p:spPr>
          <a:xfrm>
            <a:off x="1073150" y="1880791"/>
            <a:ext cx="406400" cy="406400"/>
          </a:xfrm>
          <a:prstGeom prst="rect">
            <a:avLst/>
          </a:prstGeom>
        </p:spPr>
      </p:pic>
      <p:sp>
        <p:nvSpPr>
          <p:cNvPr id="5" name="Text 2"/>
          <p:cNvSpPr/>
          <p:nvPr/>
        </p:nvSpPr>
        <p:spPr>
          <a:xfrm>
            <a:off x="1073150" y="2414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API oficial</a:t>
            </a:r>
            <a:endParaRPr lang="en-US" sz="2200" dirty="0"/>
          </a:p>
        </p:txBody>
      </p:sp>
      <p:sp>
        <p:nvSpPr>
          <p:cNvPr id="6" name="Text 3"/>
          <p:cNvSpPr/>
          <p:nvPr/>
        </p:nvSpPr>
        <p:spPr>
          <a:xfrm>
            <a:off x="1073150" y="28764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Solo UsageStatsManager, el mecanismo oficial de Android para estadísticas de uso.</a:t>
            </a:r>
            <a:endParaRPr lang="en-US" sz="1600" dirty="0"/>
          </a:p>
        </p:txBody>
      </p:sp>
      <p:sp>
        <p:nvSpPr>
          <p:cNvPr id="7" name="Shape 4"/>
          <p:cNvSpPr/>
          <p:nvPr/>
        </p:nvSpPr>
        <p:spPr>
          <a:xfrm>
            <a:off x="4405809" y="1623616"/>
            <a:ext cx="3380383" cy="2698651"/>
          </a:xfrm>
          <a:prstGeom prst="roundRect">
            <a:avLst>
              <a:gd name="adj" fmla="val 3647"/>
            </a:avLst>
          </a:prstGeom>
          <a:solidFill>
            <a:srgbClr val="22305A"/>
          </a:solidFill>
          <a:ln w="6350">
            <a:solidFill>
              <a:srgbClr val="34457A"/>
            </a:solidFill>
            <a:prstDash val="solid"/>
          </a:ln>
        </p:spPr>
      </p:sp>
      <p:pic>
        <p:nvPicPr>
          <p:cNvPr id="8" name="Image 1" descr="Trust">    </p:cNvPr>
          <p:cNvPicPr>
            <a:picLocks noChangeAspect="1"/>
          </p:cNvPicPr>
          <p:nvPr/>
        </p:nvPicPr>
        <p:blipFill>
          <a:blip r:embed="rId2"/>
          <a:srcRect l="0" r="0" t="0" b="0"/>
          <a:stretch/>
        </p:blipFill>
        <p:spPr>
          <a:xfrm>
            <a:off x="4662984" y="1880791"/>
            <a:ext cx="406400" cy="406400"/>
          </a:xfrm>
          <a:prstGeom prst="rect">
            <a:avLst/>
          </a:prstGeom>
        </p:spPr>
      </p:pic>
      <p:sp>
        <p:nvSpPr>
          <p:cNvPr id="9" name="Text 5"/>
          <p:cNvSpPr/>
          <p:nvPr/>
        </p:nvSpPr>
        <p:spPr>
          <a:xfrm>
            <a:off x="4662984" y="2414191"/>
            <a:ext cx="2952014"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Sin contenido privado</a:t>
            </a:r>
            <a:endParaRPr lang="en-US" sz="2200" dirty="0"/>
          </a:p>
        </p:txBody>
      </p:sp>
      <p:sp>
        <p:nvSpPr>
          <p:cNvPr id="10" name="Text 6"/>
          <p:cNvSpPr/>
          <p:nvPr/>
        </p:nvSpPr>
        <p:spPr>
          <a:xfrm>
            <a:off x="4662984" y="3211711"/>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No lee mensajes, contraseñas ni capturas, y no usa GPS. Nada de spyware.</a:t>
            </a:r>
            <a:endParaRPr lang="en-US" sz="1600" dirty="0"/>
          </a:p>
        </p:txBody>
      </p:sp>
      <p:sp>
        <p:nvSpPr>
          <p:cNvPr id="11" name="Shape 7"/>
          <p:cNvSpPr/>
          <p:nvPr/>
        </p:nvSpPr>
        <p:spPr>
          <a:xfrm>
            <a:off x="7995741" y="1623616"/>
            <a:ext cx="3380284" cy="2698651"/>
          </a:xfrm>
          <a:prstGeom prst="roundRect">
            <a:avLst>
              <a:gd name="adj" fmla="val 3647"/>
            </a:avLst>
          </a:prstGeom>
          <a:solidFill>
            <a:srgbClr val="22305A"/>
          </a:solidFill>
          <a:ln w="6350">
            <a:solidFill>
              <a:srgbClr val="34457A"/>
            </a:solidFill>
            <a:prstDash val="solid"/>
          </a:ln>
        </p:spPr>
      </p:sp>
      <p:pic>
        <p:nvPicPr>
          <p:cNvPr id="12" name="Image 2" descr="Lock">    </p:cNvPr>
          <p:cNvPicPr>
            <a:picLocks noChangeAspect="1"/>
          </p:cNvPicPr>
          <p:nvPr/>
        </p:nvPicPr>
        <p:blipFill>
          <a:blip r:embed="rId3"/>
          <a:srcRect l="0" r="0" t="0" b="0"/>
          <a:stretch/>
        </p:blipFill>
        <p:spPr>
          <a:xfrm>
            <a:off x="8252916" y="1880791"/>
            <a:ext cx="406400" cy="406400"/>
          </a:xfrm>
          <a:prstGeom prst="rect">
            <a:avLst/>
          </a:prstGeom>
        </p:spPr>
      </p:pic>
      <p:sp>
        <p:nvSpPr>
          <p:cNvPr id="13" name="Text 8"/>
          <p:cNvSpPr/>
          <p:nvPr/>
        </p:nvSpPr>
        <p:spPr>
          <a:xfrm>
            <a:off x="8252916" y="2414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PIN protegido</a:t>
            </a:r>
            <a:endParaRPr lang="en-US" sz="2200" dirty="0"/>
          </a:p>
        </p:txBody>
      </p:sp>
      <p:sp>
        <p:nvSpPr>
          <p:cNvPr id="14" name="Text 9"/>
          <p:cNvSpPr/>
          <p:nvPr/>
        </p:nvSpPr>
        <p:spPr>
          <a:xfrm>
            <a:off x="8252916" y="28764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El PIN se guarda como hash SHA-256, nunca en texto plano.</a:t>
            </a:r>
            <a:endParaRPr lang="en-US" sz="1600" dirty="0"/>
          </a:p>
        </p:txBody>
      </p:sp>
      <p:sp>
        <p:nvSpPr>
          <p:cNvPr id="15" name="Text 10"/>
          <p:cNvSpPr/>
          <p:nvPr/>
        </p:nvSpPr>
        <p:spPr>
          <a:xfrm>
            <a:off x="812800" y="46302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4"/>
                </a:solidFill>
                <a:latin typeface="DM Sans" pitchFamily="34" charset="0"/>
                <a:ea typeface="DM Sans" pitchFamily="34" charset="-122"/>
                <a:cs typeface="DM Sans" pitchFamily="34" charset="-120"/>
              </a:rPr>
              <a:t>El apoderado activa el permiso de acceso a datos de uso manualmente en Ajustes de Android.</a:t>
            </a:r>
            <a:endParaRPr lang="en-US" sz="1600" dirty="0"/>
          </a:p>
        </p:txBody>
      </p:sp>
      <p:sp>
        <p:nvSpPr>
          <p:cNvPr id="16"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4"/>
                </a:solidFill>
                <a:latin typeface="DM Sans" pitchFamily="34" charset="0"/>
                <a:ea typeface="DM Sans" pitchFamily="34" charset="-122"/>
                <a:cs typeface="DM Sans" pitchFamily="34" charset="-120"/>
              </a:rPr>
              <a:t>NEXO · Avance semana 10</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4"/>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Cambios respecto al proyecto original</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82341"/>
          <a:ext cx="10553700" cy="3087688"/>
        </p:xfrm>
        <a:graphic>
          <a:graphicData uri="http://schemas.openxmlformats.org/drawingml/2006/table">
            <a:tbl>
              <a:tblPr/>
              <a:tblGrid>
                <a:gridCol w="2321814"/>
                <a:gridCol w="4115943"/>
                <a:gridCol w="4115943"/>
              </a:tblGrid>
              <a:tr h="385961">
                <a:tc>
                  <a:txBody>
                    <a:bodyPr/>
                    <a:lstStyle/>
                    <a:p>
                      <a:pPr indent="0" marL="0">
                        <a:lnSpc>
                          <a:spcPts val="1960"/>
                        </a:lnSpc>
                        <a:buNone/>
                      </a:pPr>
                      <a:r>
                        <a:rPr lang="en-US" sz="1400" b="1" dirty="0">
                          <a:solidFill>
                            <a:srgbClr val="EAF2F6"/>
                          </a:solidFill>
                          <a:latin typeface="DM Sans" pitchFamily="34" charset="0"/>
                          <a:ea typeface="DM Sans" pitchFamily="34" charset="-122"/>
                          <a:cs typeface="DM Sans" pitchFamily="34" charset="-120"/>
                        </a:rPr>
                        <a:t>Tema</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c>
                  <a:txBody>
                    <a:bodyPr/>
                    <a:lstStyle/>
                    <a:p>
                      <a:pPr indent="0" marL="0">
                        <a:lnSpc>
                          <a:spcPts val="1960"/>
                        </a:lnSpc>
                        <a:buNone/>
                      </a:pPr>
                      <a:r>
                        <a:rPr lang="en-US" sz="1400" b="1" dirty="0">
                          <a:solidFill>
                            <a:srgbClr val="EAF2F6"/>
                          </a:solidFill>
                          <a:latin typeface="DM Sans" pitchFamily="34" charset="0"/>
                          <a:ea typeface="DM Sans" pitchFamily="34" charset="-122"/>
                          <a:cs typeface="DM Sans" pitchFamily="34" charset="-120"/>
                        </a:rPr>
                        <a:t>Plan original</a:t>
                      </a:r>
                      <a:endParaRPr lang="en-US" sz="1400" dirty="0">
                        <a:latin typeface="DM Sans" charset="0"/>
                        <a:ea typeface="DM Sans" charset="0"/>
                        <a:cs typeface="DM Sans" charset="0"/>
                      </a:endParaRPr>
                    </a:p>
                  </a:txBody>
                  <a:tcPr marL="62230" marR="62230" marT="62230" marB="62230" anchor="t">
                    <a:lnL w="12700" cap="flat" cmpd="sng" algn="ctr">
                      <a:solidFill>
                        <a:srgbClr val="094B6A"/>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c>
                  <a:txBody>
                    <a:bodyPr/>
                    <a:lstStyle/>
                    <a:p>
                      <a:pPr indent="0" marL="0">
                        <a:lnSpc>
                          <a:spcPts val="1960"/>
                        </a:lnSpc>
                        <a:buNone/>
                      </a:pPr>
                      <a:r>
                        <a:rPr lang="en-US" sz="1400" b="1" dirty="0">
                          <a:solidFill>
                            <a:srgbClr val="EAF2F6"/>
                          </a:solidFill>
                          <a:latin typeface="DM Sans" pitchFamily="34" charset="0"/>
                          <a:ea typeface="DM Sans" pitchFamily="34" charset="-122"/>
                          <a:cs typeface="DM Sans" pitchFamily="34" charset="-120"/>
                        </a:rPr>
                        <a:t>Ahora</a:t>
                      </a:r>
                      <a:endParaRPr lang="en-US" sz="1400" dirty="0">
                        <a:latin typeface="DM Sans" charset="0"/>
                        <a:ea typeface="DM Sans" charset="0"/>
                        <a:cs typeface="DM Sans" charset="0"/>
                      </a:endParaRPr>
                    </a:p>
                  </a:txBody>
                  <a:tcPr marL="62230" marR="62230" marT="62230" marB="62230" anchor="t">
                    <a:lnL w="12700" cap="flat" cmpd="sng" algn="ctr">
                      <a:solidFill>
                        <a:srgbClr val="094B6A"/>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Categorías</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4 categorías</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6: más Redes Sociales y Otros</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Pantalla Actividad</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Pantalla propia en la UI</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Integrada en Estadísticas</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Informes</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Informe de jornada</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Más PDF: ver y descargar</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PIN</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Crear y modificar</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También al abrir la app</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Calendario</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No contemplado</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Feriados y días sin clases</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Apariencia</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No contemplado</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Tema claro y oscuro</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Backend y correo</a:t>
                      </a:r>
                      <a:endParaRPr lang="en-US" sz="1400" dirty="0">
                        <a:latin typeface="DM Sans" charset="0"/>
                        <a:ea typeface="DM Sans" charset="0"/>
                        <a:cs typeface="DM Sans" charset="0"/>
                      </a:endParaRPr>
                    </a:p>
                  </a:txBody>
                  <a:tcPr marL="62230" marR="62230" marT="62230" marB="62230"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Etapa 11 del informe</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60"/>
                        </a:lnSpc>
                        <a:buNone/>
                      </a:pPr>
                      <a:r>
                        <a:rPr lang="en-US" sz="1400" dirty="0">
                          <a:solidFill>
                            <a:srgbClr val="1B2430"/>
                          </a:solidFill>
                          <a:latin typeface="DM Sans" pitchFamily="34" charset="0"/>
                          <a:ea typeface="DM Sans" pitchFamily="34" charset="-122"/>
                          <a:cs typeface="DM Sans" pitchFamily="34" charset="-120"/>
                        </a:rPr>
                        <a:t>Siguiente fase, tras el MVP</a:t>
                      </a:r>
                      <a:endParaRPr lang="en-US" sz="1400" dirty="0">
                        <a:latin typeface="DM Sans" charset="0"/>
                        <a:ea typeface="DM Sans" charset="0"/>
                        <a:cs typeface="DM Sans" charset="0"/>
                      </a:endParaRPr>
                    </a:p>
                  </a:txBody>
                  <a:tcPr marL="62230" marR="62230" marT="62230" marB="62230"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bl>
          </a:graphicData>
        </a:graphic>
      </p:graphicFrame>
      <p:sp>
        <p:nvSpPr>
          <p:cNvPr id="4" name="Text 1"/>
          <p:cNvSpPr/>
          <p:nvPr/>
        </p:nvSpPr>
        <p:spPr>
          <a:xfrm>
            <a:off x="812800" y="4924028"/>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65A82"/>
                </a:solidFill>
                <a:latin typeface="DM Sans" pitchFamily="34" charset="0"/>
                <a:ea typeface="DM Sans" pitchFamily="34" charset="-122"/>
                <a:cs typeface="DM Sans" pitchFamily="34" charset="-120"/>
              </a:rPr>
              <a:t>El alcance ético no cambió: sin GPS, sin bloqueo de apps y sin leer mensajes.</a:t>
            </a:r>
            <a:endParaRPr lang="en-US" sz="1600"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0898"/>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7203E"/>
                </a:solidFill>
                <a:latin typeface="EB Garamond" pitchFamily="18" charset="0"/>
                <a:ea typeface="EB Garamond" pitchFamily="18" charset="-122"/>
                <a:cs typeface="EB Garamond" pitchFamily="18" charset="-120"/>
              </a:rPr>
              <a:t>Avance del plan de trabajo: 88 %</a:t>
            </a:r>
            <a:endParaRPr lang="en-US" sz="3566"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4998"/>
          <a:ext cx="10553700" cy="3802856"/>
        </p:xfrm>
        <a:graphic>
          <a:graphicData uri="http://schemas.openxmlformats.org/drawingml/2006/table">
            <a:tbl>
              <a:tblPr/>
              <a:tblGrid>
                <a:gridCol w="5487924"/>
                <a:gridCol w="2955036"/>
                <a:gridCol w="2110740"/>
              </a:tblGrid>
              <a:tr h="380206">
                <a:tc>
                  <a:txBody>
                    <a:bodyPr/>
                    <a:lstStyle/>
                    <a:p>
                      <a:pPr indent="0" marL="0">
                        <a:lnSpc>
                          <a:spcPts val="1929"/>
                        </a:lnSpc>
                        <a:buNone/>
                      </a:pPr>
                      <a:r>
                        <a:rPr lang="en-US" sz="1378" b="1" dirty="0">
                          <a:solidFill>
                            <a:srgbClr val="EAF2F6"/>
                          </a:solidFill>
                          <a:latin typeface="DM Sans" pitchFamily="34" charset="0"/>
                          <a:ea typeface="DM Sans" pitchFamily="34" charset="-122"/>
                          <a:cs typeface="DM Sans" pitchFamily="34" charset="-120"/>
                        </a:rPr>
                        <a:t>Actividad</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c>
                  <a:txBody>
                    <a:bodyPr/>
                    <a:lstStyle/>
                    <a:p>
                      <a:pPr indent="0" marL="0">
                        <a:lnSpc>
                          <a:spcPts val="1929"/>
                        </a:lnSpc>
                        <a:buNone/>
                      </a:pPr>
                      <a:r>
                        <a:rPr lang="en-US" sz="1378" b="1" dirty="0">
                          <a:solidFill>
                            <a:srgbClr val="EAF2F6"/>
                          </a:solidFill>
                          <a:latin typeface="DM Sans" pitchFamily="34" charset="0"/>
                          <a:ea typeface="DM Sans" pitchFamily="34" charset="-122"/>
                          <a:cs typeface="DM Sans" pitchFamily="34" charset="-120"/>
                        </a:rPr>
                        <a:t>Responsable</a:t>
                      </a:r>
                      <a:endParaRPr lang="en-US" sz="1378" dirty="0">
                        <a:latin typeface="DM Sans" charset="0"/>
                        <a:ea typeface="DM Sans" charset="0"/>
                        <a:cs typeface="DM Sans" charset="0"/>
                      </a:endParaRPr>
                    </a:p>
                  </a:txBody>
                  <a:tcPr marL="61258" marR="61258" marT="61258" marB="61258" anchor="t">
                    <a:lnL w="12700" cap="flat" cmpd="sng" algn="ctr">
                      <a:solidFill>
                        <a:srgbClr val="094B6A"/>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c>
                  <a:txBody>
                    <a:bodyPr/>
                    <a:lstStyle/>
                    <a:p>
                      <a:pPr indent="0" marL="0">
                        <a:lnSpc>
                          <a:spcPts val="1929"/>
                        </a:lnSpc>
                        <a:buNone/>
                      </a:pPr>
                      <a:r>
                        <a:rPr lang="en-US" sz="1378" b="1" dirty="0">
                          <a:solidFill>
                            <a:srgbClr val="EAF2F6"/>
                          </a:solidFill>
                          <a:latin typeface="DM Sans" pitchFamily="34" charset="0"/>
                          <a:ea typeface="DM Sans" pitchFamily="34" charset="-122"/>
                          <a:cs typeface="DM Sans" pitchFamily="34" charset="-120"/>
                        </a:rPr>
                        <a:t>Estado</a:t>
                      </a:r>
                      <a:endParaRPr lang="en-US" sz="1378" dirty="0">
                        <a:latin typeface="DM Sans" charset="0"/>
                        <a:ea typeface="DM Sans" charset="0"/>
                        <a:cs typeface="DM Sans" charset="0"/>
                      </a:endParaRPr>
                    </a:p>
                  </a:txBody>
                  <a:tcPr marL="61258" marR="61258" marT="61258" marB="61258" anchor="t">
                    <a:lnL w="12700" cap="flat" cmpd="sng" algn="ctr">
                      <a:solidFill>
                        <a:srgbClr val="094B6A"/>
                      </a:solidFill>
                      <a:prstDash val="solid"/>
                      <a:round/>
                      <a:headEnd type="none" w="med" len="med"/>
                      <a:tailEnd type="none" w="med" len="med"/>
                    </a:lnL>
                    <a:lnR w="12700" cap="flat" cmpd="sng" algn="ctr">
                      <a:solidFill>
                        <a:srgbClr val="094B6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094B6A"/>
                      </a:solidFill>
                      <a:prstDash val="solid"/>
                      <a:round/>
                      <a:headEnd type="none" w="med" len="med"/>
                      <a:tailEnd type="none" w="med" len="med"/>
                    </a:lnB>
                    <a:solidFill>
                      <a:srgbClr val="065A82"/>
                    </a:solidFill>
                  </a:tcPr>
                </a:tc>
              </a:tr>
              <a:tr h="380206">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Investigación y prueba de factibilidad</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Cristopher Paredes</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094B6A"/>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Configuración base (Git, MVVM)</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Matias Esquerra</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Base de datos local (Room)</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Martín Muñoz</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Gestión de horarios</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Cristopher Paredes</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Monitoreo y categorización</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Cristopher Paredes</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Interfaz de usuario</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Matias Esquerra</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Seguridad (PIN con hash)</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Cristóbal Monsalves</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Informes y estadísticas</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Cristóbal Monsalves</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c>
                  <a:txBody>
                    <a:bodyPr/>
                    <a:lstStyle/>
                    <a:p>
                      <a:pPr indent="0" marL="0">
                        <a:lnSpc>
                          <a:spcPts val="1929"/>
                        </a:lnSpc>
                        <a:buNone/>
                      </a:pPr>
                      <a:r>
                        <a:rPr lang="en-US" sz="1378" dirty="0">
                          <a:solidFill>
                            <a:srgbClr val="1F6B45"/>
                          </a:solidFill>
                          <a:latin typeface="DM Sans" pitchFamily="34" charset="0"/>
                          <a:ea typeface="DM Sans" pitchFamily="34" charset="-122"/>
                          <a:cs typeface="DM Sans" pitchFamily="34" charset="-120"/>
                        </a:rPr>
                        <a:t>Listo</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BBC1C4"/>
                      </a:solidFill>
                      <a:prstDash val="solid"/>
                      <a:round/>
                      <a:headEnd type="none" w="med" len="med"/>
                      <a:tailEnd type="none" w="med" len="med"/>
                    </a:lnR>
                    <a:lnT w="12700" cap="flat" cmpd="sng" algn="ctr">
                      <a:solidFill>
                        <a:srgbClr val="C7C9CA"/>
                      </a:solidFill>
                      <a:prstDash val="solid"/>
                      <a:round/>
                      <a:headEnd type="none" w="med" len="med"/>
                      <a:tailEnd type="none" w="med" len="med"/>
                    </a:lnT>
                    <a:lnB w="12700" cap="flat" cmpd="sng" algn="ctr">
                      <a:solidFill>
                        <a:srgbClr val="BBC1C4"/>
                      </a:solidFill>
                      <a:prstDash val="solid"/>
                      <a:round/>
                      <a:headEnd type="none" w="med" len="med"/>
                      <a:tailEnd type="none" w="med" len="med"/>
                    </a:lnB>
                  </a:tcPr>
                </a:tc>
              </a:tr>
              <a:tr h="380305">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Pruebas y cierre</a:t>
                      </a:r>
                      <a:endParaRPr lang="en-US" sz="1378" dirty="0">
                        <a:latin typeface="DM Sans" charset="0"/>
                        <a:ea typeface="DM Sans" charset="0"/>
                        <a:cs typeface="DM Sans" charset="0"/>
                      </a:endParaRPr>
                    </a:p>
                  </a:txBody>
                  <a:tcPr marL="61258" marR="61258" marT="61258" marB="61258" anchor="t">
                    <a:lnL w="12700" cap="flat" cmpd="sng" algn="ctr">
                      <a:solidFill>
                        <a:srgbClr val="BBC1C4"/>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1B2430"/>
                          </a:solidFill>
                          <a:latin typeface="DM Sans" pitchFamily="34" charset="0"/>
                          <a:ea typeface="DM Sans" pitchFamily="34" charset="-122"/>
                          <a:cs typeface="DM Sans" pitchFamily="34" charset="-120"/>
                        </a:rPr>
                        <a:t>Todo el equipo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c>
                  <a:txBody>
                    <a:bodyPr/>
                    <a:lstStyle/>
                    <a:p>
                      <a:pPr indent="0" marL="0">
                        <a:lnSpc>
                          <a:spcPts val="1929"/>
                        </a:lnSpc>
                        <a:buNone/>
                      </a:pPr>
                      <a:r>
                        <a:rPr lang="en-US" sz="1378" dirty="0">
                          <a:solidFill>
                            <a:srgbClr val="065A82"/>
                          </a:solidFill>
                          <a:latin typeface="DM Sans" pitchFamily="34" charset="0"/>
                          <a:ea typeface="DM Sans" pitchFamily="34" charset="-122"/>
                          <a:cs typeface="DM Sans" pitchFamily="34" charset="-120"/>
                        </a:rPr>
                        <a:t>En curso</a:t>
                      </a:r>
                      <a:endParaRPr lang="en-US" sz="1378" dirty="0">
                        <a:latin typeface="DM Sans" charset="0"/>
                        <a:ea typeface="DM Sans" charset="0"/>
                        <a:cs typeface="DM Sans" charset="0"/>
                      </a:endParaRPr>
                    </a:p>
                  </a:txBody>
                  <a:tcPr marL="61258" marR="61258" marT="61258" marB="61258" anchor="t">
                    <a:lnL w="12700" cap="flat" cmpd="sng" algn="ctr">
                      <a:solidFill>
                        <a:srgbClr val="C7C9CA"/>
                      </a:solidFill>
                      <a:prstDash val="solid"/>
                      <a:round/>
                      <a:headEnd type="none" w="med" len="med"/>
                      <a:tailEnd type="none" w="med" len="med"/>
                    </a:lnL>
                    <a:lnR w="12700" cap="flat" cmpd="sng" algn="ctr">
                      <a:solidFill>
                        <a:srgbClr val="C7C9CA"/>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C7C9CA"/>
                      </a:solidFill>
                      <a:prstDash val="solid"/>
                      <a:round/>
                      <a:headEnd type="none" w="med" len="med"/>
                      <a:tailEnd type="none" w="med" len="med"/>
                    </a:lnB>
                    <a:solidFill>
                      <a:srgbClr val="FAFCFD"/>
                    </a:solidFill>
                  </a:tcPr>
                </a:tc>
              </a:tr>
            </a:tbl>
          </a:graphicData>
        </a:graphic>
      </p:graphicFrame>
      <p:sp>
        <p:nvSpPr>
          <p:cNvPr id="4" name="Text 1"/>
          <p:cNvSpPr/>
          <p:nvPr/>
        </p:nvSpPr>
        <p:spPr>
          <a:xfrm>
            <a:off x="812800" y="5631855"/>
            <a:ext cx="10883392" cy="235545"/>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F5D6B"/>
                </a:solidFill>
                <a:latin typeface="DM Sans" pitchFamily="34" charset="0"/>
                <a:ea typeface="DM Sans" pitchFamily="34" charset="-122"/>
                <a:cs typeface="DM Sans" pitchFamily="34" charset="-120"/>
              </a:rPr>
              <a:t>Base del 88 %: 14 de 16 semanas de actividades del plan completadas. Pruebas y cierre está en curso.</a:t>
            </a:r>
            <a:endParaRPr lang="en-US" sz="1196" dirty="0"/>
          </a:p>
        </p:txBody>
      </p:sp>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MVVM, todo local en el MVP</a:t>
            </a:r>
            <a:endParaRPr lang="en-US" sz="3600" dirty="0"/>
          </a:p>
        </p:txBody>
      </p:sp>
      <p:sp>
        <p:nvSpPr>
          <p:cNvPr id="3" name="Shape 1"/>
          <p:cNvSpPr/>
          <p:nvPr/>
        </p:nvSpPr>
        <p:spPr>
          <a:xfrm>
            <a:off x="812800" y="1518841"/>
            <a:ext cx="3014067" cy="1076920"/>
          </a:xfrm>
          <a:prstGeom prst="roundRect">
            <a:avLst>
              <a:gd name="adj" fmla="val 9434"/>
            </a:avLst>
          </a:prstGeom>
          <a:solidFill>
            <a:srgbClr val="065A82"/>
          </a:solidFill>
          <a:ln/>
        </p:spPr>
      </p:sp>
      <p:sp>
        <p:nvSpPr>
          <p:cNvPr id="4" name="Text 2"/>
          <p:cNvSpPr/>
          <p:nvPr/>
        </p:nvSpPr>
        <p:spPr>
          <a:xfrm>
            <a:off x="1066800" y="1722041"/>
            <a:ext cx="258124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Interfaz</a:t>
            </a:r>
            <a:endParaRPr lang="en-US" sz="2200" dirty="0"/>
          </a:p>
        </p:txBody>
      </p:sp>
      <p:sp>
        <p:nvSpPr>
          <p:cNvPr id="5" name="Text 3"/>
          <p:cNvSpPr/>
          <p:nvPr/>
        </p:nvSpPr>
        <p:spPr>
          <a:xfrm>
            <a:off x="1066800" y="2108101"/>
            <a:ext cx="258124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AF2F6"/>
                </a:solidFill>
                <a:latin typeface="DM Sans" pitchFamily="34" charset="0"/>
                <a:ea typeface="DM Sans" pitchFamily="34" charset="-122"/>
                <a:cs typeface="DM Sans" pitchFamily="34" charset="-120"/>
              </a:rPr>
              <a:t>Jetpack Compose</a:t>
            </a:r>
            <a:endParaRPr lang="en-US" sz="1600" dirty="0"/>
          </a:p>
        </p:txBody>
      </p:sp>
      <p:pic>
        <p:nvPicPr>
          <p:cNvPr id="6" name="Image 0" descr="arrow-right">    </p:cNvPr>
          <p:cNvPicPr>
            <a:picLocks noChangeAspect="1"/>
          </p:cNvPicPr>
          <p:nvPr/>
        </p:nvPicPr>
        <p:blipFill>
          <a:blip r:embed="rId1"/>
          <a:srcRect l="0" r="0" t="0" b="0"/>
          <a:stretch/>
        </p:blipFill>
        <p:spPr>
          <a:xfrm>
            <a:off x="3979267" y="1904901"/>
            <a:ext cx="457200" cy="304800"/>
          </a:xfrm>
          <a:prstGeom prst="rect">
            <a:avLst/>
          </a:prstGeom>
        </p:spPr>
      </p:pic>
      <p:sp>
        <p:nvSpPr>
          <p:cNvPr id="7" name="Shape 4"/>
          <p:cNvSpPr/>
          <p:nvPr/>
        </p:nvSpPr>
        <p:spPr>
          <a:xfrm>
            <a:off x="4588867" y="1518841"/>
            <a:ext cx="3014166" cy="1076920"/>
          </a:xfrm>
          <a:prstGeom prst="roundRect">
            <a:avLst>
              <a:gd name="adj" fmla="val 9434"/>
            </a:avLst>
          </a:prstGeom>
          <a:solidFill>
            <a:srgbClr val="065A82"/>
          </a:solidFill>
          <a:ln/>
        </p:spPr>
      </p:sp>
      <p:sp>
        <p:nvSpPr>
          <p:cNvPr id="8" name="Text 5"/>
          <p:cNvSpPr/>
          <p:nvPr/>
        </p:nvSpPr>
        <p:spPr>
          <a:xfrm>
            <a:off x="4842867" y="1722041"/>
            <a:ext cx="25813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ViewModel</a:t>
            </a:r>
            <a:endParaRPr lang="en-US" sz="2200" dirty="0"/>
          </a:p>
        </p:txBody>
      </p:sp>
      <p:sp>
        <p:nvSpPr>
          <p:cNvPr id="9" name="Text 6"/>
          <p:cNvSpPr/>
          <p:nvPr/>
        </p:nvSpPr>
        <p:spPr>
          <a:xfrm>
            <a:off x="4842867" y="2108101"/>
            <a:ext cx="258135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AF2F6"/>
                </a:solidFill>
                <a:latin typeface="DM Sans" pitchFamily="34" charset="0"/>
                <a:ea typeface="DM Sans" pitchFamily="34" charset="-122"/>
                <a:cs typeface="DM Sans" pitchFamily="34" charset="-120"/>
              </a:rPr>
              <a:t>Estado de cada pantalla</a:t>
            </a:r>
            <a:endParaRPr lang="en-US" sz="1600" dirty="0"/>
          </a:p>
        </p:txBody>
      </p:sp>
      <p:pic>
        <p:nvPicPr>
          <p:cNvPr id="10" name="Image 1" descr="arrow-right">    </p:cNvPr>
          <p:cNvPicPr>
            <a:picLocks noChangeAspect="1"/>
          </p:cNvPicPr>
          <p:nvPr/>
        </p:nvPicPr>
        <p:blipFill>
          <a:blip r:embed="rId2"/>
          <a:srcRect l="0" r="0" t="0" b="0"/>
          <a:stretch/>
        </p:blipFill>
        <p:spPr>
          <a:xfrm>
            <a:off x="7755434" y="1904901"/>
            <a:ext cx="457200" cy="304800"/>
          </a:xfrm>
          <a:prstGeom prst="rect">
            <a:avLst/>
          </a:prstGeom>
        </p:spPr>
      </p:pic>
      <p:sp>
        <p:nvSpPr>
          <p:cNvPr id="11" name="Shape 7"/>
          <p:cNvSpPr/>
          <p:nvPr/>
        </p:nvSpPr>
        <p:spPr>
          <a:xfrm>
            <a:off x="8365034" y="1518841"/>
            <a:ext cx="3014166" cy="1076920"/>
          </a:xfrm>
          <a:prstGeom prst="roundRect">
            <a:avLst>
              <a:gd name="adj" fmla="val 9434"/>
            </a:avLst>
          </a:prstGeom>
          <a:solidFill>
            <a:srgbClr val="065A82"/>
          </a:solidFill>
          <a:ln/>
        </p:spPr>
      </p:sp>
      <p:sp>
        <p:nvSpPr>
          <p:cNvPr id="12" name="Text 8"/>
          <p:cNvSpPr/>
          <p:nvPr/>
        </p:nvSpPr>
        <p:spPr>
          <a:xfrm>
            <a:off x="8619034" y="1722041"/>
            <a:ext cx="258135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F6"/>
                </a:solidFill>
                <a:latin typeface="DM Sans" pitchFamily="34" charset="0"/>
                <a:ea typeface="DM Sans" pitchFamily="34" charset="-122"/>
                <a:cs typeface="DM Sans" pitchFamily="34" charset="-120"/>
              </a:rPr>
              <a:t>Repositorios</a:t>
            </a:r>
            <a:endParaRPr lang="en-US" sz="2200" dirty="0"/>
          </a:p>
        </p:txBody>
      </p:sp>
      <p:sp>
        <p:nvSpPr>
          <p:cNvPr id="13" name="Text 9"/>
          <p:cNvSpPr/>
          <p:nvPr/>
        </p:nvSpPr>
        <p:spPr>
          <a:xfrm>
            <a:off x="8619034" y="2108101"/>
            <a:ext cx="258135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AF2F6"/>
                </a:solidFill>
                <a:latin typeface="DM Sans" pitchFamily="34" charset="0"/>
                <a:ea typeface="DM Sans" pitchFamily="34" charset="-122"/>
                <a:cs typeface="DM Sans" pitchFamily="34" charset="-120"/>
              </a:rPr>
              <a:t>Acceso a los datos</a:t>
            </a:r>
            <a:endParaRPr lang="en-US" sz="1600" dirty="0"/>
          </a:p>
        </p:txBody>
      </p:sp>
      <p:sp>
        <p:nvSpPr>
          <p:cNvPr id="14" name="Text 10"/>
          <p:cNvSpPr/>
          <p:nvPr/>
        </p:nvSpPr>
        <p:spPr>
          <a:xfrm>
            <a:off x="812800" y="27989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Los repositorios leen y escriben en:</a:t>
            </a:r>
            <a:endParaRPr lang="en-US" sz="1600" dirty="0"/>
          </a:p>
        </p:txBody>
      </p:sp>
      <p:sp>
        <p:nvSpPr>
          <p:cNvPr id="15" name="Shape 11"/>
          <p:cNvSpPr/>
          <p:nvPr/>
        </p:nvSpPr>
        <p:spPr>
          <a:xfrm>
            <a:off x="815975" y="3289796"/>
            <a:ext cx="3414117" cy="1367730"/>
          </a:xfrm>
          <a:prstGeom prst="roundRect">
            <a:avLst>
              <a:gd name="adj" fmla="val 7196"/>
            </a:avLst>
          </a:prstGeom>
          <a:solidFill>
            <a:srgbClr val="FAFCFD"/>
          </a:solidFill>
          <a:ln w="6350">
            <a:solidFill>
              <a:srgbClr val="CFDCE4"/>
            </a:solidFill>
            <a:prstDash val="solid"/>
          </a:ln>
        </p:spPr>
      </p:sp>
      <p:sp>
        <p:nvSpPr>
          <p:cNvPr id="16" name="Text 12"/>
          <p:cNvSpPr/>
          <p:nvPr/>
        </p:nvSpPr>
        <p:spPr>
          <a:xfrm>
            <a:off x="1073150" y="349617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Room</a:t>
            </a:r>
            <a:endParaRPr lang="en-US" sz="2200" dirty="0"/>
          </a:p>
        </p:txBody>
      </p:sp>
      <p:sp>
        <p:nvSpPr>
          <p:cNvPr id="17" name="Text 13"/>
          <p:cNvSpPr/>
          <p:nvPr/>
        </p:nvSpPr>
        <p:spPr>
          <a:xfrm>
            <a:off x="1073150" y="3882231"/>
            <a:ext cx="29867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Jornadas, ajustes e informes</a:t>
            </a:r>
            <a:endParaRPr lang="en-US" sz="1600" dirty="0"/>
          </a:p>
        </p:txBody>
      </p:sp>
      <p:sp>
        <p:nvSpPr>
          <p:cNvPr id="18" name="Shape 14"/>
          <p:cNvSpPr/>
          <p:nvPr/>
        </p:nvSpPr>
        <p:spPr>
          <a:xfrm>
            <a:off x="4388842" y="3289796"/>
            <a:ext cx="3414216" cy="1367730"/>
          </a:xfrm>
          <a:prstGeom prst="roundRect">
            <a:avLst>
              <a:gd name="adj" fmla="val 7196"/>
            </a:avLst>
          </a:prstGeom>
          <a:solidFill>
            <a:srgbClr val="FAFCFD"/>
          </a:solidFill>
          <a:ln w="6350">
            <a:solidFill>
              <a:srgbClr val="CFDCE4"/>
            </a:solidFill>
            <a:prstDash val="solid"/>
          </a:ln>
        </p:spPr>
      </p:sp>
      <p:sp>
        <p:nvSpPr>
          <p:cNvPr id="19" name="Text 15"/>
          <p:cNvSpPr/>
          <p:nvPr/>
        </p:nvSpPr>
        <p:spPr>
          <a:xfrm>
            <a:off x="4646017" y="34961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UsageStatsManager</a:t>
            </a:r>
            <a:endParaRPr lang="en-US" sz="2200" dirty="0"/>
          </a:p>
        </p:txBody>
      </p:sp>
      <p:sp>
        <p:nvSpPr>
          <p:cNvPr id="20" name="Text 16"/>
          <p:cNvSpPr/>
          <p:nvPr/>
        </p:nvSpPr>
        <p:spPr>
          <a:xfrm>
            <a:off x="4646017" y="3882231"/>
            <a:ext cx="298686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Uso real de las apps</a:t>
            </a:r>
            <a:endParaRPr lang="en-US" sz="1600" dirty="0"/>
          </a:p>
        </p:txBody>
      </p:sp>
      <p:sp>
        <p:nvSpPr>
          <p:cNvPr id="21" name="Shape 17"/>
          <p:cNvSpPr/>
          <p:nvPr/>
        </p:nvSpPr>
        <p:spPr>
          <a:xfrm>
            <a:off x="7961809" y="3289796"/>
            <a:ext cx="3414216" cy="1367730"/>
          </a:xfrm>
          <a:prstGeom prst="roundRect">
            <a:avLst>
              <a:gd name="adj" fmla="val 7196"/>
            </a:avLst>
          </a:prstGeom>
          <a:solidFill>
            <a:srgbClr val="FAFCFD"/>
          </a:solidFill>
          <a:ln w="6350">
            <a:solidFill>
              <a:srgbClr val="CFDCE4"/>
            </a:solidFill>
            <a:prstDash val="solid"/>
          </a:ln>
        </p:spPr>
      </p:sp>
      <p:sp>
        <p:nvSpPr>
          <p:cNvPr id="22" name="Text 18"/>
          <p:cNvSpPr/>
          <p:nvPr/>
        </p:nvSpPr>
        <p:spPr>
          <a:xfrm>
            <a:off x="8218984" y="34961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WorkManager</a:t>
            </a:r>
            <a:endParaRPr lang="en-US" sz="2200" dirty="0"/>
          </a:p>
        </p:txBody>
      </p:sp>
      <p:sp>
        <p:nvSpPr>
          <p:cNvPr id="23" name="Text 19"/>
          <p:cNvSpPr/>
          <p:nvPr/>
        </p:nvSpPr>
        <p:spPr>
          <a:xfrm>
            <a:off x="8218984" y="388223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Informe al terminar cada jornada</a:t>
            </a:r>
            <a:endParaRPr lang="en-US" sz="1600" dirty="0"/>
          </a:p>
        </p:txBody>
      </p:sp>
      <p:sp>
        <p:nvSpPr>
          <p:cNvPr id="24" name="Text 20"/>
          <p:cNvSpPr/>
          <p:nvPr/>
        </p:nvSpPr>
        <p:spPr>
          <a:xfrm>
            <a:off x="812800" y="48639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65A82"/>
                </a:solidFill>
                <a:latin typeface="DM Sans" pitchFamily="34" charset="0"/>
                <a:ea typeface="DM Sans" pitchFamily="34" charset="-122"/>
                <a:cs typeface="DM Sans" pitchFamily="34" charset="-120"/>
              </a:rPr>
              <a:t>Sin backend: el MVP funciona completo en el teléfono.</a:t>
            </a:r>
            <a:endParaRPr lang="en-US" sz="1600" dirty="0"/>
          </a:p>
        </p:txBody>
      </p:sp>
      <p:sp>
        <p:nvSpPr>
          <p:cNvPr id="25"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26"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Mapa tecnológico</a:t>
            </a:r>
            <a:endParaRPr lang="en-US" sz="3600" dirty="0"/>
          </a:p>
        </p:txBody>
      </p:sp>
      <p:sp>
        <p:nvSpPr>
          <p:cNvPr id="3" name="Text 1"/>
          <p:cNvSpPr/>
          <p:nvPr/>
        </p:nvSpPr>
        <p:spPr>
          <a:xfrm>
            <a:off x="812800" y="143252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Interfaz</a:t>
            </a:r>
            <a:endParaRPr lang="en-US" sz="1400" dirty="0"/>
          </a:p>
        </p:txBody>
      </p:sp>
      <p:sp>
        <p:nvSpPr>
          <p:cNvPr id="4" name="Shape 2"/>
          <p:cNvSpPr/>
          <p:nvPr/>
        </p:nvSpPr>
        <p:spPr>
          <a:xfrm>
            <a:off x="3378200" y="1366441"/>
            <a:ext cx="2098675" cy="381000"/>
          </a:xfrm>
          <a:prstGeom prst="roundRect">
            <a:avLst>
              <a:gd name="adj" fmla="val 50000"/>
            </a:avLst>
          </a:prstGeom>
          <a:solidFill>
            <a:srgbClr val="065A82"/>
          </a:solidFill>
          <a:ln/>
        </p:spPr>
      </p:sp>
      <p:sp>
        <p:nvSpPr>
          <p:cNvPr id="5" name="Shape 3"/>
          <p:cNvSpPr/>
          <p:nvPr/>
        </p:nvSpPr>
        <p:spPr>
          <a:xfrm>
            <a:off x="3416300" y="1404541"/>
            <a:ext cx="304800" cy="304800"/>
          </a:xfrm>
          <a:prstGeom prst="roundRect">
            <a:avLst>
              <a:gd name="adj" fmla="val 50000"/>
            </a:avLst>
          </a:prstGeom>
          <a:solidFill>
            <a:srgbClr val="FFFFFF"/>
          </a:solidFill>
          <a:ln/>
        </p:spPr>
      </p:sp>
      <p:pic>
        <p:nvPicPr>
          <p:cNvPr id="6" name="Image 0" descr="Logo de Jetpack Compose">    </p:cNvPr>
          <p:cNvPicPr>
            <a:picLocks noChangeAspect="1"/>
          </p:cNvPicPr>
          <p:nvPr/>
        </p:nvPicPr>
        <p:blipFill>
          <a:blip r:embed="rId1"/>
          <a:srcRect l="0" r="0" t="0" b="0"/>
          <a:stretch/>
        </p:blipFill>
        <p:spPr>
          <a:xfrm>
            <a:off x="3467100" y="1455341"/>
            <a:ext cx="203200" cy="203200"/>
          </a:xfrm>
          <a:prstGeom prst="rect">
            <a:avLst/>
          </a:prstGeom>
        </p:spPr>
      </p:pic>
      <p:sp>
        <p:nvSpPr>
          <p:cNvPr id="7" name="Text 4"/>
          <p:cNvSpPr/>
          <p:nvPr/>
        </p:nvSpPr>
        <p:spPr>
          <a:xfrm>
            <a:off x="3797300" y="1432520"/>
            <a:ext cx="16795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Jetpack Compose</a:t>
            </a:r>
            <a:endParaRPr lang="en-US" sz="1400" dirty="0"/>
          </a:p>
        </p:txBody>
      </p:sp>
      <p:sp>
        <p:nvSpPr>
          <p:cNvPr id="8" name="Shape 5"/>
          <p:cNvSpPr/>
          <p:nvPr/>
        </p:nvSpPr>
        <p:spPr>
          <a:xfrm>
            <a:off x="5578475" y="1366441"/>
            <a:ext cx="1406128" cy="381000"/>
          </a:xfrm>
          <a:prstGeom prst="roundRect">
            <a:avLst>
              <a:gd name="adj" fmla="val 50000"/>
            </a:avLst>
          </a:prstGeom>
          <a:solidFill>
            <a:srgbClr val="065A82"/>
          </a:solidFill>
          <a:ln/>
        </p:spPr>
      </p:sp>
      <p:sp>
        <p:nvSpPr>
          <p:cNvPr id="9" name="Shape 6"/>
          <p:cNvSpPr/>
          <p:nvPr/>
        </p:nvSpPr>
        <p:spPr>
          <a:xfrm>
            <a:off x="5616575" y="1404541"/>
            <a:ext cx="304800" cy="304800"/>
          </a:xfrm>
          <a:prstGeom prst="roundRect">
            <a:avLst>
              <a:gd name="adj" fmla="val 50000"/>
            </a:avLst>
          </a:prstGeom>
          <a:solidFill>
            <a:srgbClr val="FFFFFF"/>
          </a:solidFill>
          <a:ln/>
        </p:spPr>
      </p:sp>
      <p:pic>
        <p:nvPicPr>
          <p:cNvPr id="10" name="Image 1" descr="Logo de Material Design">    </p:cNvPr>
          <p:cNvPicPr>
            <a:picLocks noChangeAspect="1"/>
          </p:cNvPicPr>
          <p:nvPr/>
        </p:nvPicPr>
        <p:blipFill>
          <a:blip r:embed="rId2"/>
          <a:srcRect l="0" r="0" t="0" b="0"/>
          <a:stretch/>
        </p:blipFill>
        <p:spPr>
          <a:xfrm>
            <a:off x="5667375" y="1455341"/>
            <a:ext cx="203200" cy="203200"/>
          </a:xfrm>
          <a:prstGeom prst="rect">
            <a:avLst/>
          </a:prstGeom>
        </p:spPr>
      </p:pic>
      <p:sp>
        <p:nvSpPr>
          <p:cNvPr id="11" name="Text 7"/>
          <p:cNvSpPr/>
          <p:nvPr/>
        </p:nvSpPr>
        <p:spPr>
          <a:xfrm>
            <a:off x="5997575" y="1432520"/>
            <a:ext cx="97107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Material 3</a:t>
            </a:r>
            <a:endParaRPr lang="en-US" sz="1400" dirty="0"/>
          </a:p>
        </p:txBody>
      </p:sp>
      <p:sp>
        <p:nvSpPr>
          <p:cNvPr id="12" name="Shape 8"/>
          <p:cNvSpPr/>
          <p:nvPr/>
        </p:nvSpPr>
        <p:spPr>
          <a:xfrm>
            <a:off x="7086203" y="1366441"/>
            <a:ext cx="2308423" cy="381000"/>
          </a:xfrm>
          <a:prstGeom prst="roundRect">
            <a:avLst>
              <a:gd name="adj" fmla="val 50000"/>
            </a:avLst>
          </a:prstGeom>
          <a:solidFill>
            <a:srgbClr val="065A82"/>
          </a:solidFill>
          <a:ln/>
        </p:spPr>
      </p:sp>
      <p:sp>
        <p:nvSpPr>
          <p:cNvPr id="13" name="Shape 9"/>
          <p:cNvSpPr/>
          <p:nvPr/>
        </p:nvSpPr>
        <p:spPr>
          <a:xfrm>
            <a:off x="7124303" y="1404541"/>
            <a:ext cx="304800" cy="304800"/>
          </a:xfrm>
          <a:prstGeom prst="roundRect">
            <a:avLst>
              <a:gd name="adj" fmla="val 50000"/>
            </a:avLst>
          </a:prstGeom>
          <a:solidFill>
            <a:srgbClr val="FFFFFF"/>
          </a:solidFill>
          <a:ln/>
        </p:spPr>
      </p:sp>
      <p:pic>
        <p:nvPicPr>
          <p:cNvPr id="14" name="Image 2" descr="Logo de Jetpack Compose">    </p:cNvPr>
          <p:cNvPicPr>
            <a:picLocks noChangeAspect="1"/>
          </p:cNvPicPr>
          <p:nvPr/>
        </p:nvPicPr>
        <p:blipFill>
          <a:blip r:embed="rId3"/>
          <a:srcRect l="0" r="0" t="0" b="0"/>
          <a:stretch/>
        </p:blipFill>
        <p:spPr>
          <a:xfrm>
            <a:off x="7175103" y="1455341"/>
            <a:ext cx="203200" cy="203200"/>
          </a:xfrm>
          <a:prstGeom prst="rect">
            <a:avLst/>
          </a:prstGeom>
        </p:spPr>
      </p:pic>
      <p:sp>
        <p:nvSpPr>
          <p:cNvPr id="15" name="Text 10"/>
          <p:cNvSpPr/>
          <p:nvPr/>
        </p:nvSpPr>
        <p:spPr>
          <a:xfrm>
            <a:off x="7505303" y="1432520"/>
            <a:ext cx="188932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Navigation Compose</a:t>
            </a:r>
            <a:endParaRPr lang="en-US" sz="1400" dirty="0"/>
          </a:p>
        </p:txBody>
      </p:sp>
      <p:sp>
        <p:nvSpPr>
          <p:cNvPr id="16" name="Text 11"/>
          <p:cNvSpPr/>
          <p:nvPr/>
        </p:nvSpPr>
        <p:spPr>
          <a:xfrm>
            <a:off x="812800" y="196592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Lógica</a:t>
            </a:r>
            <a:endParaRPr lang="en-US" sz="1400" dirty="0"/>
          </a:p>
        </p:txBody>
      </p:sp>
      <p:sp>
        <p:nvSpPr>
          <p:cNvPr id="17" name="Shape 12"/>
          <p:cNvSpPr/>
          <p:nvPr/>
        </p:nvSpPr>
        <p:spPr>
          <a:xfrm>
            <a:off x="3378200" y="1899841"/>
            <a:ext cx="1050826" cy="381000"/>
          </a:xfrm>
          <a:prstGeom prst="roundRect">
            <a:avLst>
              <a:gd name="adj" fmla="val 50000"/>
            </a:avLst>
          </a:prstGeom>
          <a:solidFill>
            <a:srgbClr val="065A82"/>
          </a:solidFill>
          <a:ln/>
        </p:spPr>
      </p:sp>
      <p:sp>
        <p:nvSpPr>
          <p:cNvPr id="18" name="Shape 13"/>
          <p:cNvSpPr/>
          <p:nvPr/>
        </p:nvSpPr>
        <p:spPr>
          <a:xfrm>
            <a:off x="3416300" y="1937941"/>
            <a:ext cx="304800" cy="304800"/>
          </a:xfrm>
          <a:prstGeom prst="roundRect">
            <a:avLst>
              <a:gd name="adj" fmla="val 50000"/>
            </a:avLst>
          </a:prstGeom>
          <a:solidFill>
            <a:srgbClr val="FFFFFF"/>
          </a:solidFill>
          <a:ln/>
        </p:spPr>
      </p:sp>
      <p:pic>
        <p:nvPicPr>
          <p:cNvPr id="19" name="Image 3" descr="Logo de Kotlin">    </p:cNvPr>
          <p:cNvPicPr>
            <a:picLocks noChangeAspect="1"/>
          </p:cNvPicPr>
          <p:nvPr/>
        </p:nvPicPr>
        <p:blipFill>
          <a:blip r:embed="rId4"/>
          <a:srcRect l="0" r="0" t="0" b="0"/>
          <a:stretch/>
        </p:blipFill>
        <p:spPr>
          <a:xfrm>
            <a:off x="3467100" y="1988741"/>
            <a:ext cx="203200" cy="203200"/>
          </a:xfrm>
          <a:prstGeom prst="rect">
            <a:avLst/>
          </a:prstGeom>
        </p:spPr>
      </p:pic>
      <p:sp>
        <p:nvSpPr>
          <p:cNvPr id="20" name="Text 14"/>
          <p:cNvSpPr/>
          <p:nvPr/>
        </p:nvSpPr>
        <p:spPr>
          <a:xfrm>
            <a:off x="3797300" y="1965920"/>
            <a:ext cx="54471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Kotlin</a:t>
            </a:r>
            <a:endParaRPr lang="en-US" sz="1400" dirty="0"/>
          </a:p>
        </p:txBody>
      </p:sp>
      <p:sp>
        <p:nvSpPr>
          <p:cNvPr id="21" name="Text 15"/>
          <p:cNvSpPr/>
          <p:nvPr/>
        </p:nvSpPr>
        <p:spPr>
          <a:xfrm>
            <a:off x="4530626" y="1915120"/>
            <a:ext cx="841772"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MVVM</a:t>
            </a:r>
            <a:endParaRPr lang="en-US" sz="1400" dirty="0"/>
          </a:p>
        </p:txBody>
      </p:sp>
      <p:sp>
        <p:nvSpPr>
          <p:cNvPr id="22" name="Text 16"/>
          <p:cNvSpPr/>
          <p:nvPr/>
        </p:nvSpPr>
        <p:spPr>
          <a:xfrm>
            <a:off x="5473998" y="1915120"/>
            <a:ext cx="1206698"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ViewModel</a:t>
            </a:r>
            <a:endParaRPr lang="en-US" sz="1400" dirty="0"/>
          </a:p>
        </p:txBody>
      </p:sp>
      <p:sp>
        <p:nvSpPr>
          <p:cNvPr id="23" name="Text 17"/>
          <p:cNvSpPr/>
          <p:nvPr/>
        </p:nvSpPr>
        <p:spPr>
          <a:xfrm>
            <a:off x="6782296" y="1915120"/>
            <a:ext cx="677366"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Flow</a:t>
            </a:r>
            <a:endParaRPr lang="en-US" sz="1400" dirty="0"/>
          </a:p>
        </p:txBody>
      </p:sp>
      <p:sp>
        <p:nvSpPr>
          <p:cNvPr id="24" name="Text 18"/>
          <p:cNvSpPr/>
          <p:nvPr/>
        </p:nvSpPr>
        <p:spPr>
          <a:xfrm>
            <a:off x="812800" y="249932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Datos locales</a:t>
            </a:r>
            <a:endParaRPr lang="en-US" sz="1400" dirty="0"/>
          </a:p>
        </p:txBody>
      </p:sp>
      <p:sp>
        <p:nvSpPr>
          <p:cNvPr id="25" name="Shape 19"/>
          <p:cNvSpPr/>
          <p:nvPr/>
        </p:nvSpPr>
        <p:spPr>
          <a:xfrm>
            <a:off x="3378200" y="2433241"/>
            <a:ext cx="1791791" cy="381000"/>
          </a:xfrm>
          <a:prstGeom prst="roundRect">
            <a:avLst>
              <a:gd name="adj" fmla="val 50000"/>
            </a:avLst>
          </a:prstGeom>
          <a:solidFill>
            <a:srgbClr val="065A82"/>
          </a:solidFill>
          <a:ln/>
        </p:spPr>
      </p:sp>
      <p:sp>
        <p:nvSpPr>
          <p:cNvPr id="26" name="Shape 20"/>
          <p:cNvSpPr/>
          <p:nvPr/>
        </p:nvSpPr>
        <p:spPr>
          <a:xfrm>
            <a:off x="3416300" y="2471341"/>
            <a:ext cx="304800" cy="304800"/>
          </a:xfrm>
          <a:prstGeom prst="roundRect">
            <a:avLst>
              <a:gd name="adj" fmla="val 50000"/>
            </a:avLst>
          </a:prstGeom>
          <a:solidFill>
            <a:srgbClr val="FFFFFF"/>
          </a:solidFill>
          <a:ln/>
        </p:spPr>
      </p:sp>
      <p:pic>
        <p:nvPicPr>
          <p:cNvPr id="27" name="Image 4" descr="Logo de SQLite">    </p:cNvPr>
          <p:cNvPicPr>
            <a:picLocks noChangeAspect="1"/>
          </p:cNvPicPr>
          <p:nvPr/>
        </p:nvPicPr>
        <p:blipFill>
          <a:blip r:embed="rId5"/>
          <a:srcRect l="0" r="0" t="0" b="0"/>
          <a:stretch/>
        </p:blipFill>
        <p:spPr>
          <a:xfrm>
            <a:off x="3467100" y="2522141"/>
            <a:ext cx="203200" cy="203200"/>
          </a:xfrm>
          <a:prstGeom prst="rect">
            <a:avLst/>
          </a:prstGeom>
        </p:spPr>
      </p:pic>
      <p:sp>
        <p:nvSpPr>
          <p:cNvPr id="28" name="Text 21"/>
          <p:cNvSpPr/>
          <p:nvPr/>
        </p:nvSpPr>
        <p:spPr>
          <a:xfrm>
            <a:off x="3797300" y="2499320"/>
            <a:ext cx="13726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Room (SQLite)</a:t>
            </a:r>
            <a:endParaRPr lang="en-US" sz="1400" dirty="0"/>
          </a:p>
        </p:txBody>
      </p:sp>
      <p:sp>
        <p:nvSpPr>
          <p:cNvPr id="29" name="Text 22"/>
          <p:cNvSpPr/>
          <p:nvPr/>
        </p:nvSpPr>
        <p:spPr>
          <a:xfrm>
            <a:off x="5271591" y="2448520"/>
            <a:ext cx="614958"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KSP</a:t>
            </a:r>
            <a:endParaRPr lang="en-US" sz="1400" dirty="0"/>
          </a:p>
        </p:txBody>
      </p:sp>
      <p:sp>
        <p:nvSpPr>
          <p:cNvPr id="30" name="Text 23"/>
          <p:cNvSpPr/>
          <p:nvPr/>
        </p:nvSpPr>
        <p:spPr>
          <a:xfrm>
            <a:off x="5988149" y="2448520"/>
            <a:ext cx="2123877"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Migraciones explícitas</a:t>
            </a:r>
            <a:endParaRPr lang="en-US" sz="1400" dirty="0"/>
          </a:p>
        </p:txBody>
      </p:sp>
      <p:sp>
        <p:nvSpPr>
          <p:cNvPr id="31" name="Text 24"/>
          <p:cNvSpPr/>
          <p:nvPr/>
        </p:nvSpPr>
        <p:spPr>
          <a:xfrm>
            <a:off x="812800" y="303272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Android</a:t>
            </a:r>
            <a:endParaRPr lang="en-US" sz="1400" dirty="0"/>
          </a:p>
        </p:txBody>
      </p:sp>
      <p:sp>
        <p:nvSpPr>
          <p:cNvPr id="32" name="Shape 25"/>
          <p:cNvSpPr/>
          <p:nvPr/>
        </p:nvSpPr>
        <p:spPr>
          <a:xfrm>
            <a:off x="3378200" y="2966641"/>
            <a:ext cx="2229545" cy="381000"/>
          </a:xfrm>
          <a:prstGeom prst="roundRect">
            <a:avLst>
              <a:gd name="adj" fmla="val 50000"/>
            </a:avLst>
          </a:prstGeom>
          <a:solidFill>
            <a:srgbClr val="065A82"/>
          </a:solidFill>
          <a:ln/>
        </p:spPr>
      </p:sp>
      <p:sp>
        <p:nvSpPr>
          <p:cNvPr id="33" name="Shape 26"/>
          <p:cNvSpPr/>
          <p:nvPr/>
        </p:nvSpPr>
        <p:spPr>
          <a:xfrm>
            <a:off x="3416300" y="3004741"/>
            <a:ext cx="304800" cy="304800"/>
          </a:xfrm>
          <a:prstGeom prst="roundRect">
            <a:avLst>
              <a:gd name="adj" fmla="val 50000"/>
            </a:avLst>
          </a:prstGeom>
          <a:solidFill>
            <a:srgbClr val="FFFFFF"/>
          </a:solidFill>
          <a:ln/>
        </p:spPr>
      </p:sp>
      <p:pic>
        <p:nvPicPr>
          <p:cNvPr id="34" name="Image 5" descr="Logo de Android">    </p:cNvPr>
          <p:cNvPicPr>
            <a:picLocks noChangeAspect="1"/>
          </p:cNvPicPr>
          <p:nvPr/>
        </p:nvPicPr>
        <p:blipFill>
          <a:blip r:embed="rId6"/>
          <a:srcRect l="0" r="0" t="0" b="0"/>
          <a:stretch/>
        </p:blipFill>
        <p:spPr>
          <a:xfrm>
            <a:off x="3467100" y="3055541"/>
            <a:ext cx="203200" cy="203200"/>
          </a:xfrm>
          <a:prstGeom prst="rect">
            <a:avLst/>
          </a:prstGeom>
        </p:spPr>
      </p:pic>
      <p:sp>
        <p:nvSpPr>
          <p:cNvPr id="35" name="Text 27"/>
          <p:cNvSpPr/>
          <p:nvPr/>
        </p:nvSpPr>
        <p:spPr>
          <a:xfrm>
            <a:off x="3797300" y="3032720"/>
            <a:ext cx="181044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UsageStatsManager</a:t>
            </a:r>
            <a:endParaRPr lang="en-US" sz="1400" dirty="0"/>
          </a:p>
        </p:txBody>
      </p:sp>
      <p:sp>
        <p:nvSpPr>
          <p:cNvPr id="36" name="Shape 28"/>
          <p:cNvSpPr/>
          <p:nvPr/>
        </p:nvSpPr>
        <p:spPr>
          <a:xfrm>
            <a:off x="5709345" y="2966641"/>
            <a:ext cx="1728291" cy="381000"/>
          </a:xfrm>
          <a:prstGeom prst="roundRect">
            <a:avLst>
              <a:gd name="adj" fmla="val 50000"/>
            </a:avLst>
          </a:prstGeom>
          <a:solidFill>
            <a:srgbClr val="065A82"/>
          </a:solidFill>
          <a:ln/>
        </p:spPr>
      </p:sp>
      <p:sp>
        <p:nvSpPr>
          <p:cNvPr id="37" name="Shape 29"/>
          <p:cNvSpPr/>
          <p:nvPr/>
        </p:nvSpPr>
        <p:spPr>
          <a:xfrm>
            <a:off x="5747445" y="3004741"/>
            <a:ext cx="304800" cy="304800"/>
          </a:xfrm>
          <a:prstGeom prst="roundRect">
            <a:avLst>
              <a:gd name="adj" fmla="val 50000"/>
            </a:avLst>
          </a:prstGeom>
          <a:solidFill>
            <a:srgbClr val="FFFFFF"/>
          </a:solidFill>
          <a:ln/>
        </p:spPr>
      </p:sp>
      <p:pic>
        <p:nvPicPr>
          <p:cNvPr id="38" name="Image 6" descr="Logo de Android">    </p:cNvPr>
          <p:cNvPicPr>
            <a:picLocks noChangeAspect="1"/>
          </p:cNvPicPr>
          <p:nvPr/>
        </p:nvPicPr>
        <p:blipFill>
          <a:blip r:embed="rId7"/>
          <a:srcRect l="0" r="0" t="0" b="0"/>
          <a:stretch/>
        </p:blipFill>
        <p:spPr>
          <a:xfrm>
            <a:off x="5798245" y="3055541"/>
            <a:ext cx="203200" cy="203200"/>
          </a:xfrm>
          <a:prstGeom prst="rect">
            <a:avLst/>
          </a:prstGeom>
        </p:spPr>
      </p:pic>
      <p:sp>
        <p:nvSpPr>
          <p:cNvPr id="39" name="Text 30"/>
          <p:cNvSpPr/>
          <p:nvPr/>
        </p:nvSpPr>
        <p:spPr>
          <a:xfrm>
            <a:off x="6128445" y="3032720"/>
            <a:ext cx="13091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WorkManager</a:t>
            </a:r>
            <a:endParaRPr lang="en-US" sz="1400" dirty="0"/>
          </a:p>
        </p:txBody>
      </p:sp>
      <p:sp>
        <p:nvSpPr>
          <p:cNvPr id="40" name="Shape 31"/>
          <p:cNvSpPr/>
          <p:nvPr/>
        </p:nvSpPr>
        <p:spPr>
          <a:xfrm>
            <a:off x="7539236" y="2966641"/>
            <a:ext cx="1739503" cy="381000"/>
          </a:xfrm>
          <a:prstGeom prst="roundRect">
            <a:avLst>
              <a:gd name="adj" fmla="val 50000"/>
            </a:avLst>
          </a:prstGeom>
          <a:solidFill>
            <a:srgbClr val="065A82"/>
          </a:solidFill>
          <a:ln/>
        </p:spPr>
      </p:sp>
      <p:sp>
        <p:nvSpPr>
          <p:cNvPr id="41" name="Shape 32"/>
          <p:cNvSpPr/>
          <p:nvPr/>
        </p:nvSpPr>
        <p:spPr>
          <a:xfrm>
            <a:off x="7577336" y="3004741"/>
            <a:ext cx="304800" cy="304800"/>
          </a:xfrm>
          <a:prstGeom prst="roundRect">
            <a:avLst>
              <a:gd name="adj" fmla="val 50000"/>
            </a:avLst>
          </a:prstGeom>
          <a:solidFill>
            <a:srgbClr val="FFFFFF"/>
          </a:solidFill>
          <a:ln/>
        </p:spPr>
      </p:sp>
      <p:pic>
        <p:nvPicPr>
          <p:cNvPr id="42" name="Image 7" descr="Logo de Android">    </p:cNvPr>
          <p:cNvPicPr>
            <a:picLocks noChangeAspect="1"/>
          </p:cNvPicPr>
          <p:nvPr/>
        </p:nvPicPr>
        <p:blipFill>
          <a:blip r:embed="rId8"/>
          <a:srcRect l="0" r="0" t="0" b="0"/>
          <a:stretch/>
        </p:blipFill>
        <p:spPr>
          <a:xfrm>
            <a:off x="7628136" y="3055541"/>
            <a:ext cx="203200" cy="203200"/>
          </a:xfrm>
          <a:prstGeom prst="rect">
            <a:avLst/>
          </a:prstGeom>
        </p:spPr>
      </p:pic>
      <p:sp>
        <p:nvSpPr>
          <p:cNvPr id="43" name="Text 33"/>
          <p:cNvSpPr/>
          <p:nvPr/>
        </p:nvSpPr>
        <p:spPr>
          <a:xfrm>
            <a:off x="7958336" y="3032720"/>
            <a:ext cx="13204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Usage Access</a:t>
            </a:r>
            <a:endParaRPr lang="en-US" sz="1400" dirty="0"/>
          </a:p>
        </p:txBody>
      </p:sp>
      <p:sp>
        <p:nvSpPr>
          <p:cNvPr id="44" name="Text 34"/>
          <p:cNvSpPr/>
          <p:nvPr/>
        </p:nvSpPr>
        <p:spPr>
          <a:xfrm>
            <a:off x="812800" y="3550841"/>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Seguridad e informes</a:t>
            </a:r>
            <a:endParaRPr lang="en-US" sz="1400" dirty="0"/>
          </a:p>
        </p:txBody>
      </p:sp>
      <p:sp>
        <p:nvSpPr>
          <p:cNvPr id="45" name="Text 35"/>
          <p:cNvSpPr/>
          <p:nvPr/>
        </p:nvSpPr>
        <p:spPr>
          <a:xfrm>
            <a:off x="3378200" y="3500041"/>
            <a:ext cx="1060450"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SHA-256</a:t>
            </a:r>
            <a:endParaRPr lang="en-US" sz="1400" dirty="0"/>
          </a:p>
        </p:txBody>
      </p:sp>
      <p:sp>
        <p:nvSpPr>
          <p:cNvPr id="46" name="Text 36"/>
          <p:cNvSpPr/>
          <p:nvPr/>
        </p:nvSpPr>
        <p:spPr>
          <a:xfrm>
            <a:off x="4540250" y="3500041"/>
            <a:ext cx="1437283"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PdfDocument</a:t>
            </a:r>
            <a:endParaRPr lang="en-US" sz="1400" dirty="0"/>
          </a:p>
        </p:txBody>
      </p:sp>
      <p:sp>
        <p:nvSpPr>
          <p:cNvPr id="47" name="Text 37"/>
          <p:cNvSpPr/>
          <p:nvPr/>
        </p:nvSpPr>
        <p:spPr>
          <a:xfrm>
            <a:off x="6079133" y="3500041"/>
            <a:ext cx="1264444" cy="350441"/>
          </a:xfrm>
          <a:prstGeom prst="roundRect">
            <a:avLst>
              <a:gd name="adj" fmla="val 50000"/>
            </a:avLst>
          </a:prstGeom>
          <a:solidFill>
            <a:srgbClr val="065A82"/>
          </a:solidFill>
          <a:ln/>
        </p:spPr>
        <p:txBody>
          <a:bodyPr wrap="none" lIns="0" tIns="0" rIns="0" bIns="0" rtlCol="0" anchor="ctr">
            <a:normAutofit/>
          </a:bodyPr>
          <a:lstStyle/>
          <a:p>
            <a:pPr algn="ctr" indent="0" marL="0">
              <a:lnSpc>
                <a:spcPts val="1960"/>
              </a:lnSpc>
              <a:buNone/>
            </a:pPr>
            <a:r>
              <a:rPr lang="en-US" sz="1400" dirty="0">
                <a:solidFill>
                  <a:srgbClr val="EAF2F6"/>
                </a:solidFill>
                <a:latin typeface="DM Sans" pitchFamily="34" charset="0"/>
                <a:ea typeface="DM Sans" pitchFamily="34" charset="-122"/>
                <a:cs typeface="DM Sans" pitchFamily="34" charset="-120"/>
              </a:rPr>
              <a:t>FileProvider</a:t>
            </a:r>
            <a:endParaRPr lang="en-US" sz="1400" dirty="0"/>
          </a:p>
        </p:txBody>
      </p:sp>
      <p:sp>
        <p:nvSpPr>
          <p:cNvPr id="48" name="Text 38"/>
          <p:cNvSpPr/>
          <p:nvPr/>
        </p:nvSpPr>
        <p:spPr>
          <a:xfrm>
            <a:off x="812800" y="4068961"/>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Herramientas</a:t>
            </a:r>
            <a:endParaRPr lang="en-US" sz="1400" dirty="0"/>
          </a:p>
        </p:txBody>
      </p:sp>
      <p:sp>
        <p:nvSpPr>
          <p:cNvPr id="49" name="Shape 39"/>
          <p:cNvSpPr/>
          <p:nvPr/>
        </p:nvSpPr>
        <p:spPr>
          <a:xfrm>
            <a:off x="3378200" y="4002881"/>
            <a:ext cx="1832173" cy="381000"/>
          </a:xfrm>
          <a:prstGeom prst="roundRect">
            <a:avLst>
              <a:gd name="adj" fmla="val 50000"/>
            </a:avLst>
          </a:prstGeom>
          <a:solidFill>
            <a:srgbClr val="065A82"/>
          </a:solidFill>
          <a:ln/>
        </p:spPr>
      </p:sp>
      <p:sp>
        <p:nvSpPr>
          <p:cNvPr id="50" name="Shape 40"/>
          <p:cNvSpPr/>
          <p:nvPr/>
        </p:nvSpPr>
        <p:spPr>
          <a:xfrm>
            <a:off x="3416300" y="4040981"/>
            <a:ext cx="304800" cy="304800"/>
          </a:xfrm>
          <a:prstGeom prst="roundRect">
            <a:avLst>
              <a:gd name="adj" fmla="val 50000"/>
            </a:avLst>
          </a:prstGeom>
          <a:solidFill>
            <a:srgbClr val="FFFFFF"/>
          </a:solidFill>
          <a:ln/>
        </p:spPr>
      </p:sp>
      <p:pic>
        <p:nvPicPr>
          <p:cNvPr id="51" name="Image 8" descr="Logo de Android Studio">    </p:cNvPr>
          <p:cNvPicPr>
            <a:picLocks noChangeAspect="1"/>
          </p:cNvPicPr>
          <p:nvPr/>
        </p:nvPicPr>
        <p:blipFill>
          <a:blip r:embed="rId9"/>
          <a:srcRect l="0" r="0" t="0" b="0"/>
          <a:stretch/>
        </p:blipFill>
        <p:spPr>
          <a:xfrm>
            <a:off x="3467100" y="4091781"/>
            <a:ext cx="203200" cy="203200"/>
          </a:xfrm>
          <a:prstGeom prst="rect">
            <a:avLst/>
          </a:prstGeom>
        </p:spPr>
      </p:pic>
      <p:sp>
        <p:nvSpPr>
          <p:cNvPr id="52" name="Text 41"/>
          <p:cNvSpPr/>
          <p:nvPr/>
        </p:nvSpPr>
        <p:spPr>
          <a:xfrm>
            <a:off x="3797300" y="4068961"/>
            <a:ext cx="141307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Android Studio</a:t>
            </a:r>
            <a:endParaRPr lang="en-US" sz="1400" dirty="0"/>
          </a:p>
        </p:txBody>
      </p:sp>
      <p:sp>
        <p:nvSpPr>
          <p:cNvPr id="53" name="Shape 42"/>
          <p:cNvSpPr/>
          <p:nvPr/>
        </p:nvSpPr>
        <p:spPr>
          <a:xfrm>
            <a:off x="5311973" y="4002881"/>
            <a:ext cx="1618952" cy="381000"/>
          </a:xfrm>
          <a:prstGeom prst="roundRect">
            <a:avLst>
              <a:gd name="adj" fmla="val 50000"/>
            </a:avLst>
          </a:prstGeom>
          <a:solidFill>
            <a:srgbClr val="065A82"/>
          </a:solidFill>
          <a:ln/>
        </p:spPr>
      </p:sp>
      <p:sp>
        <p:nvSpPr>
          <p:cNvPr id="54" name="Shape 43"/>
          <p:cNvSpPr/>
          <p:nvPr/>
        </p:nvSpPr>
        <p:spPr>
          <a:xfrm>
            <a:off x="5350073" y="4040981"/>
            <a:ext cx="304800" cy="304800"/>
          </a:xfrm>
          <a:prstGeom prst="roundRect">
            <a:avLst>
              <a:gd name="adj" fmla="val 50000"/>
            </a:avLst>
          </a:prstGeom>
          <a:solidFill>
            <a:srgbClr val="FFFFFF"/>
          </a:solidFill>
          <a:ln/>
        </p:spPr>
      </p:sp>
      <p:pic>
        <p:nvPicPr>
          <p:cNvPr id="55" name="Image 9" descr="Logo de GitHub">    </p:cNvPr>
          <p:cNvPicPr>
            <a:picLocks noChangeAspect="1"/>
          </p:cNvPicPr>
          <p:nvPr/>
        </p:nvPicPr>
        <p:blipFill>
          <a:blip r:embed="rId10"/>
          <a:srcRect l="0" r="0" t="0" b="0"/>
          <a:stretch/>
        </p:blipFill>
        <p:spPr>
          <a:xfrm>
            <a:off x="5400873" y="4091781"/>
            <a:ext cx="203200" cy="203200"/>
          </a:xfrm>
          <a:prstGeom prst="rect">
            <a:avLst/>
          </a:prstGeom>
        </p:spPr>
      </p:pic>
      <p:sp>
        <p:nvSpPr>
          <p:cNvPr id="56" name="Text 44"/>
          <p:cNvSpPr/>
          <p:nvPr/>
        </p:nvSpPr>
        <p:spPr>
          <a:xfrm>
            <a:off x="5731073" y="4068961"/>
            <a:ext cx="11998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Git y GitHub</a:t>
            </a:r>
            <a:endParaRPr lang="en-US" sz="1400" dirty="0"/>
          </a:p>
        </p:txBody>
      </p:sp>
      <p:sp>
        <p:nvSpPr>
          <p:cNvPr id="57" name="Shape 45"/>
          <p:cNvSpPr/>
          <p:nvPr/>
        </p:nvSpPr>
        <p:spPr>
          <a:xfrm>
            <a:off x="7032526" y="4002881"/>
            <a:ext cx="1016893" cy="381000"/>
          </a:xfrm>
          <a:prstGeom prst="roundRect">
            <a:avLst>
              <a:gd name="adj" fmla="val 50000"/>
            </a:avLst>
          </a:prstGeom>
          <a:solidFill>
            <a:srgbClr val="065A82"/>
          </a:solidFill>
          <a:ln/>
        </p:spPr>
      </p:sp>
      <p:sp>
        <p:nvSpPr>
          <p:cNvPr id="58" name="Shape 46"/>
          <p:cNvSpPr/>
          <p:nvPr/>
        </p:nvSpPr>
        <p:spPr>
          <a:xfrm>
            <a:off x="7070626" y="4040981"/>
            <a:ext cx="304800" cy="304800"/>
          </a:xfrm>
          <a:prstGeom prst="roundRect">
            <a:avLst>
              <a:gd name="adj" fmla="val 50000"/>
            </a:avLst>
          </a:prstGeom>
          <a:solidFill>
            <a:srgbClr val="FFFFFF"/>
          </a:solidFill>
          <a:ln/>
        </p:spPr>
      </p:sp>
      <p:pic>
        <p:nvPicPr>
          <p:cNvPr id="59" name="Image 10" descr="Logo de JUnit">    </p:cNvPr>
          <p:cNvPicPr>
            <a:picLocks noChangeAspect="1"/>
          </p:cNvPicPr>
          <p:nvPr/>
        </p:nvPicPr>
        <p:blipFill>
          <a:blip r:embed="rId11"/>
          <a:srcRect l="0" r="0" t="0" b="0"/>
          <a:stretch/>
        </p:blipFill>
        <p:spPr>
          <a:xfrm>
            <a:off x="7121426" y="4091781"/>
            <a:ext cx="203200" cy="203200"/>
          </a:xfrm>
          <a:prstGeom prst="rect">
            <a:avLst/>
          </a:prstGeom>
        </p:spPr>
      </p:pic>
      <p:sp>
        <p:nvSpPr>
          <p:cNvPr id="60" name="Text 47"/>
          <p:cNvSpPr/>
          <p:nvPr/>
        </p:nvSpPr>
        <p:spPr>
          <a:xfrm>
            <a:off x="7451626" y="4068961"/>
            <a:ext cx="5039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F6"/>
                </a:solidFill>
                <a:latin typeface="DM Sans" pitchFamily="34" charset="0"/>
                <a:ea typeface="DM Sans" pitchFamily="34" charset="-122"/>
                <a:cs typeface="DM Sans" pitchFamily="34" charset="-120"/>
              </a:rPr>
              <a:t>JUnit</a:t>
            </a:r>
            <a:endParaRPr lang="en-US" sz="1400" dirty="0"/>
          </a:p>
        </p:txBody>
      </p:sp>
      <p:sp>
        <p:nvSpPr>
          <p:cNvPr id="61" name="Text 48"/>
          <p:cNvSpPr/>
          <p:nvPr/>
        </p:nvSpPr>
        <p:spPr>
          <a:xfrm>
            <a:off x="812800" y="4602361"/>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E"/>
                </a:solidFill>
                <a:latin typeface="DM Sans" pitchFamily="34" charset="0"/>
                <a:ea typeface="DM Sans" pitchFamily="34" charset="-122"/>
                <a:cs typeface="DM Sans" pitchFamily="34" charset="-120"/>
              </a:rPr>
              <a:t>Siguiente fase</a:t>
            </a:r>
            <a:endParaRPr lang="en-US" sz="1400" dirty="0"/>
          </a:p>
        </p:txBody>
      </p:sp>
      <p:sp>
        <p:nvSpPr>
          <p:cNvPr id="62" name="Shape 49"/>
          <p:cNvSpPr/>
          <p:nvPr/>
        </p:nvSpPr>
        <p:spPr>
          <a:xfrm>
            <a:off x="3384550" y="4542631"/>
            <a:ext cx="1602879" cy="368300"/>
          </a:xfrm>
          <a:prstGeom prst="roundRect">
            <a:avLst>
              <a:gd name="adj" fmla="val 50000"/>
            </a:avLst>
          </a:prstGeom>
          <a:noFill/>
          <a:ln w="12700">
            <a:solidFill>
              <a:srgbClr val="F96167"/>
            </a:solidFill>
            <a:prstDash val="dash"/>
          </a:ln>
        </p:spPr>
      </p:sp>
      <p:sp>
        <p:nvSpPr>
          <p:cNvPr id="63" name="Shape 50"/>
          <p:cNvSpPr/>
          <p:nvPr/>
        </p:nvSpPr>
        <p:spPr>
          <a:xfrm>
            <a:off x="3419475" y="4577556"/>
            <a:ext cx="298450" cy="298450"/>
          </a:xfrm>
          <a:prstGeom prst="roundRect">
            <a:avLst>
              <a:gd name="adj" fmla="val 50000"/>
            </a:avLst>
          </a:prstGeom>
          <a:solidFill>
            <a:srgbClr val="FFFFFF"/>
          </a:solidFill>
          <a:ln w="6350">
            <a:solidFill>
              <a:srgbClr val="CFDCE4"/>
            </a:solidFill>
            <a:prstDash val="solid"/>
          </a:ln>
        </p:spPr>
      </p:sp>
      <p:pic>
        <p:nvPicPr>
          <p:cNvPr id="64" name="Image 11" descr="Logo de Django">    </p:cNvPr>
          <p:cNvPicPr>
            <a:picLocks noChangeAspect="1"/>
          </p:cNvPicPr>
          <p:nvPr/>
        </p:nvPicPr>
        <p:blipFill>
          <a:blip r:embed="rId12"/>
          <a:srcRect l="0" r="0" t="0" b="0"/>
          <a:stretch/>
        </p:blipFill>
        <p:spPr>
          <a:xfrm>
            <a:off x="3467100" y="4625181"/>
            <a:ext cx="203200" cy="203200"/>
          </a:xfrm>
          <a:prstGeom prst="rect">
            <a:avLst/>
          </a:prstGeom>
        </p:spPr>
      </p:pic>
      <p:sp>
        <p:nvSpPr>
          <p:cNvPr id="65" name="Text 51"/>
          <p:cNvSpPr/>
          <p:nvPr/>
        </p:nvSpPr>
        <p:spPr>
          <a:xfrm>
            <a:off x="3797300" y="4602361"/>
            <a:ext cx="118377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E"/>
                </a:solidFill>
                <a:latin typeface="DM Sans" pitchFamily="34" charset="0"/>
                <a:ea typeface="DM Sans" pitchFamily="34" charset="-122"/>
                <a:cs typeface="DM Sans" pitchFamily="34" charset="-120"/>
              </a:rPr>
              <a:t>Django REST</a:t>
            </a:r>
            <a:endParaRPr lang="en-US" sz="1400" dirty="0"/>
          </a:p>
        </p:txBody>
      </p:sp>
      <p:sp>
        <p:nvSpPr>
          <p:cNvPr id="66" name="Shape 52"/>
          <p:cNvSpPr/>
          <p:nvPr/>
        </p:nvSpPr>
        <p:spPr>
          <a:xfrm>
            <a:off x="5101729" y="4542631"/>
            <a:ext cx="1539776" cy="368300"/>
          </a:xfrm>
          <a:prstGeom prst="roundRect">
            <a:avLst>
              <a:gd name="adj" fmla="val 50000"/>
            </a:avLst>
          </a:prstGeom>
          <a:noFill/>
          <a:ln w="12700">
            <a:solidFill>
              <a:srgbClr val="F96167"/>
            </a:solidFill>
            <a:prstDash val="dash"/>
          </a:ln>
        </p:spPr>
      </p:sp>
      <p:sp>
        <p:nvSpPr>
          <p:cNvPr id="67" name="Shape 53"/>
          <p:cNvSpPr/>
          <p:nvPr/>
        </p:nvSpPr>
        <p:spPr>
          <a:xfrm>
            <a:off x="5136654" y="4577556"/>
            <a:ext cx="298450" cy="298450"/>
          </a:xfrm>
          <a:prstGeom prst="roundRect">
            <a:avLst>
              <a:gd name="adj" fmla="val 50000"/>
            </a:avLst>
          </a:prstGeom>
          <a:solidFill>
            <a:srgbClr val="FFFFFF"/>
          </a:solidFill>
          <a:ln w="6350">
            <a:solidFill>
              <a:srgbClr val="CFDCE4"/>
            </a:solidFill>
            <a:prstDash val="solid"/>
          </a:ln>
        </p:spPr>
      </p:sp>
      <p:pic>
        <p:nvPicPr>
          <p:cNvPr id="68" name="Image 12" descr="Logo de PostgreSQL">    </p:cNvPr>
          <p:cNvPicPr>
            <a:picLocks noChangeAspect="1"/>
          </p:cNvPicPr>
          <p:nvPr/>
        </p:nvPicPr>
        <p:blipFill>
          <a:blip r:embed="rId13"/>
          <a:srcRect l="0" r="0" t="0" b="0"/>
          <a:stretch/>
        </p:blipFill>
        <p:spPr>
          <a:xfrm>
            <a:off x="5184279" y="4625181"/>
            <a:ext cx="203200" cy="203200"/>
          </a:xfrm>
          <a:prstGeom prst="rect">
            <a:avLst/>
          </a:prstGeom>
        </p:spPr>
      </p:pic>
      <p:sp>
        <p:nvSpPr>
          <p:cNvPr id="69" name="Text 54"/>
          <p:cNvSpPr/>
          <p:nvPr/>
        </p:nvSpPr>
        <p:spPr>
          <a:xfrm>
            <a:off x="5514479" y="4602361"/>
            <a:ext cx="11206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E"/>
                </a:solidFill>
                <a:latin typeface="DM Sans" pitchFamily="34" charset="0"/>
                <a:ea typeface="DM Sans" pitchFamily="34" charset="-122"/>
                <a:cs typeface="DM Sans" pitchFamily="34" charset="-120"/>
              </a:rPr>
              <a:t>PostgreSQL</a:t>
            </a:r>
            <a:endParaRPr lang="en-US" sz="1400" dirty="0"/>
          </a:p>
        </p:txBody>
      </p:sp>
      <p:sp>
        <p:nvSpPr>
          <p:cNvPr id="70" name="Text 55"/>
          <p:cNvSpPr/>
          <p:nvPr/>
        </p:nvSpPr>
        <p:spPr>
          <a:xfrm>
            <a:off x="812800" y="50696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65A82"/>
                </a:solidFill>
                <a:latin typeface="DM Sans" pitchFamily="34" charset="0"/>
                <a:ea typeface="DM Sans" pitchFamily="34" charset="-122"/>
                <a:cs typeface="DM Sans" pitchFamily="34" charset="-120"/>
              </a:rPr>
              <a:t>Lo punteado es la siguiente fase: el MVP no depende de ningún servidor.</a:t>
            </a:r>
            <a:endParaRPr lang="en-US" sz="1600" dirty="0"/>
          </a:p>
        </p:txBody>
      </p:sp>
      <p:sp>
        <p:nvSpPr>
          <p:cNvPr id="71" name="Text 5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72" name="Text 5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Cómo funciona, de punta a punta</a:t>
            </a:r>
            <a:endParaRPr lang="en-US" sz="3600" dirty="0"/>
          </a:p>
        </p:txBody>
      </p:sp>
      <p:sp>
        <p:nvSpPr>
          <p:cNvPr id="3" name="Shape 1"/>
          <p:cNvSpPr/>
          <p:nvPr/>
        </p:nvSpPr>
        <p:spPr>
          <a:xfrm>
            <a:off x="815975" y="1572816"/>
            <a:ext cx="3380284" cy="1626592"/>
          </a:xfrm>
          <a:prstGeom prst="roundRect">
            <a:avLst>
              <a:gd name="adj" fmla="val 6051"/>
            </a:avLst>
          </a:prstGeom>
          <a:solidFill>
            <a:srgbClr val="FAFCFD"/>
          </a:solidFill>
          <a:ln w="6350">
            <a:solidFill>
              <a:srgbClr val="CFDCE4"/>
            </a:solidFill>
            <a:prstDash val="solid"/>
          </a:ln>
        </p:spPr>
      </p:sp>
      <p:sp>
        <p:nvSpPr>
          <p:cNvPr id="4" name="Text 2"/>
          <p:cNvSpPr/>
          <p:nvPr/>
        </p:nvSpPr>
        <p:spPr>
          <a:xfrm>
            <a:off x="1022350" y="1779191"/>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1</a:t>
            </a:r>
            <a:endParaRPr lang="en-US" sz="2200" dirty="0"/>
          </a:p>
        </p:txBody>
      </p:sp>
      <p:sp>
        <p:nvSpPr>
          <p:cNvPr id="5" name="Text 3"/>
          <p:cNvSpPr/>
          <p:nvPr/>
        </p:nvSpPr>
        <p:spPr>
          <a:xfrm>
            <a:off x="1267321" y="1832471"/>
            <a:ext cx="12658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Configurar</a:t>
            </a:r>
            <a:endParaRPr lang="en-US" sz="1600" dirty="0"/>
          </a:p>
        </p:txBody>
      </p:sp>
      <p:sp>
        <p:nvSpPr>
          <p:cNvPr id="6" name="Text 4"/>
          <p:cNvSpPr/>
          <p:nvPr/>
        </p:nvSpPr>
        <p:spPr>
          <a:xfrm>
            <a:off x="1022350" y="2246511"/>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El apoderado crea la jornada y su PIN. Se guardan en Room.</a:t>
            </a:r>
            <a:endParaRPr lang="en-US" sz="1400" dirty="0"/>
          </a:p>
        </p:txBody>
      </p:sp>
      <p:sp>
        <p:nvSpPr>
          <p:cNvPr id="7" name="Shape 5"/>
          <p:cNvSpPr/>
          <p:nvPr/>
        </p:nvSpPr>
        <p:spPr>
          <a:xfrm>
            <a:off x="4405809" y="1572816"/>
            <a:ext cx="3380284" cy="1626592"/>
          </a:xfrm>
          <a:prstGeom prst="roundRect">
            <a:avLst>
              <a:gd name="adj" fmla="val 6051"/>
            </a:avLst>
          </a:prstGeom>
          <a:solidFill>
            <a:srgbClr val="FAFCFD"/>
          </a:solidFill>
          <a:ln w="6350">
            <a:solidFill>
              <a:srgbClr val="CFDCE4"/>
            </a:solidFill>
            <a:prstDash val="solid"/>
          </a:ln>
        </p:spPr>
      </p:sp>
      <p:sp>
        <p:nvSpPr>
          <p:cNvPr id="8" name="Text 6"/>
          <p:cNvSpPr/>
          <p:nvPr/>
        </p:nvSpPr>
        <p:spPr>
          <a:xfrm>
            <a:off x="4612184" y="1779191"/>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2</a:t>
            </a:r>
            <a:endParaRPr lang="en-US" sz="2200" dirty="0"/>
          </a:p>
        </p:txBody>
      </p:sp>
      <p:sp>
        <p:nvSpPr>
          <p:cNvPr id="9" name="Text 7"/>
          <p:cNvSpPr/>
          <p:nvPr/>
        </p:nvSpPr>
        <p:spPr>
          <a:xfrm>
            <a:off x="4857155" y="1832471"/>
            <a:ext cx="124848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Programar</a:t>
            </a:r>
            <a:endParaRPr lang="en-US" sz="1600" dirty="0"/>
          </a:p>
        </p:txBody>
      </p:sp>
      <p:sp>
        <p:nvSpPr>
          <p:cNvPr id="10" name="Text 8"/>
          <p:cNvSpPr/>
          <p:nvPr/>
        </p:nvSpPr>
        <p:spPr>
          <a:xfrm>
            <a:off x="4612184" y="2246511"/>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WorkManager agenda el informe para la hora de término de la jornada.</a:t>
            </a:r>
            <a:endParaRPr lang="en-US" sz="1400" dirty="0"/>
          </a:p>
        </p:txBody>
      </p:sp>
      <p:sp>
        <p:nvSpPr>
          <p:cNvPr id="11" name="Shape 9"/>
          <p:cNvSpPr/>
          <p:nvPr/>
        </p:nvSpPr>
        <p:spPr>
          <a:xfrm>
            <a:off x="7995642" y="1572816"/>
            <a:ext cx="3380284" cy="1626592"/>
          </a:xfrm>
          <a:prstGeom prst="roundRect">
            <a:avLst>
              <a:gd name="adj" fmla="val 6051"/>
            </a:avLst>
          </a:prstGeom>
          <a:solidFill>
            <a:srgbClr val="FAFCFD"/>
          </a:solidFill>
          <a:ln w="6350">
            <a:solidFill>
              <a:srgbClr val="CFDCE4"/>
            </a:solidFill>
            <a:prstDash val="solid"/>
          </a:ln>
        </p:spPr>
      </p:sp>
      <p:sp>
        <p:nvSpPr>
          <p:cNvPr id="12" name="Text 10"/>
          <p:cNvSpPr/>
          <p:nvPr/>
        </p:nvSpPr>
        <p:spPr>
          <a:xfrm>
            <a:off x="8202017" y="1779191"/>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3</a:t>
            </a:r>
            <a:endParaRPr lang="en-US" sz="2200" dirty="0"/>
          </a:p>
        </p:txBody>
      </p:sp>
      <p:sp>
        <p:nvSpPr>
          <p:cNvPr id="13" name="Text 11"/>
          <p:cNvSpPr/>
          <p:nvPr/>
        </p:nvSpPr>
        <p:spPr>
          <a:xfrm>
            <a:off x="8446988" y="1832471"/>
            <a:ext cx="107584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Registrar</a:t>
            </a:r>
            <a:endParaRPr lang="en-US" sz="1600" dirty="0"/>
          </a:p>
        </p:txBody>
      </p:sp>
      <p:sp>
        <p:nvSpPr>
          <p:cNvPr id="14" name="Text 12"/>
          <p:cNvSpPr/>
          <p:nvPr/>
        </p:nvSpPr>
        <p:spPr>
          <a:xfrm>
            <a:off x="8202017" y="2246511"/>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Android registra el uso de las apps; NEXO no corre todo el día.</a:t>
            </a:r>
            <a:endParaRPr lang="en-US" sz="1400" dirty="0"/>
          </a:p>
        </p:txBody>
      </p:sp>
      <p:sp>
        <p:nvSpPr>
          <p:cNvPr id="15" name="Shape 13"/>
          <p:cNvSpPr/>
          <p:nvPr/>
        </p:nvSpPr>
        <p:spPr>
          <a:xfrm>
            <a:off x="815975" y="3408958"/>
            <a:ext cx="3380284" cy="1377752"/>
          </a:xfrm>
          <a:prstGeom prst="roundRect">
            <a:avLst>
              <a:gd name="adj" fmla="val 7144"/>
            </a:avLst>
          </a:prstGeom>
          <a:solidFill>
            <a:srgbClr val="FAFCFD"/>
          </a:solidFill>
          <a:ln w="6350">
            <a:solidFill>
              <a:srgbClr val="CFDCE4"/>
            </a:solidFill>
            <a:prstDash val="solid"/>
          </a:ln>
        </p:spPr>
      </p:sp>
      <p:sp>
        <p:nvSpPr>
          <p:cNvPr id="16" name="Text 14"/>
          <p:cNvSpPr/>
          <p:nvPr/>
        </p:nvSpPr>
        <p:spPr>
          <a:xfrm>
            <a:off x="1022350" y="3615333"/>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4</a:t>
            </a:r>
            <a:endParaRPr lang="en-US" sz="2200" dirty="0"/>
          </a:p>
        </p:txBody>
      </p:sp>
      <p:sp>
        <p:nvSpPr>
          <p:cNvPr id="17" name="Text 15"/>
          <p:cNvSpPr/>
          <p:nvPr/>
        </p:nvSpPr>
        <p:spPr>
          <a:xfrm>
            <a:off x="1267321" y="3668613"/>
            <a:ext cx="11721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Consultar</a:t>
            </a:r>
            <a:endParaRPr lang="en-US" sz="1600" dirty="0"/>
          </a:p>
        </p:txBody>
      </p:sp>
      <p:sp>
        <p:nvSpPr>
          <p:cNvPr id="18" name="Text 16"/>
          <p:cNvSpPr/>
          <p:nvPr/>
        </p:nvSpPr>
        <p:spPr>
          <a:xfrm>
            <a:off x="1022350" y="4082653"/>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Al terminar la jornada, el Worker lee el uso con UsageStatsManager.</a:t>
            </a:r>
            <a:endParaRPr lang="en-US" sz="1400" dirty="0"/>
          </a:p>
        </p:txBody>
      </p:sp>
      <p:sp>
        <p:nvSpPr>
          <p:cNvPr id="19" name="Shape 17"/>
          <p:cNvSpPr/>
          <p:nvPr/>
        </p:nvSpPr>
        <p:spPr>
          <a:xfrm>
            <a:off x="4405809" y="3408958"/>
            <a:ext cx="3380284" cy="1377752"/>
          </a:xfrm>
          <a:prstGeom prst="roundRect">
            <a:avLst>
              <a:gd name="adj" fmla="val 7144"/>
            </a:avLst>
          </a:prstGeom>
          <a:solidFill>
            <a:srgbClr val="FAFCFD"/>
          </a:solidFill>
          <a:ln w="6350">
            <a:solidFill>
              <a:srgbClr val="CFDCE4"/>
            </a:solidFill>
            <a:prstDash val="solid"/>
          </a:ln>
        </p:spPr>
      </p:sp>
      <p:sp>
        <p:nvSpPr>
          <p:cNvPr id="20" name="Text 18"/>
          <p:cNvSpPr/>
          <p:nvPr/>
        </p:nvSpPr>
        <p:spPr>
          <a:xfrm>
            <a:off x="4612184" y="3615333"/>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5</a:t>
            </a:r>
            <a:endParaRPr lang="en-US" sz="2200" dirty="0"/>
          </a:p>
        </p:txBody>
      </p:sp>
      <p:sp>
        <p:nvSpPr>
          <p:cNvPr id="21" name="Text 19"/>
          <p:cNvSpPr/>
          <p:nvPr/>
        </p:nvSpPr>
        <p:spPr>
          <a:xfrm>
            <a:off x="4857155" y="3668613"/>
            <a:ext cx="23245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Clasificar y guardar</a:t>
            </a:r>
            <a:endParaRPr lang="en-US" sz="1600" dirty="0"/>
          </a:p>
        </p:txBody>
      </p:sp>
      <p:sp>
        <p:nvSpPr>
          <p:cNvPr id="22" name="Text 20"/>
          <p:cNvSpPr/>
          <p:nvPr/>
        </p:nvSpPr>
        <p:spPr>
          <a:xfrm>
            <a:off x="4612184" y="4082653"/>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Cada app va a su categoría y el informe se guarda en Room.</a:t>
            </a:r>
            <a:endParaRPr lang="en-US" sz="1400" dirty="0"/>
          </a:p>
        </p:txBody>
      </p:sp>
      <p:sp>
        <p:nvSpPr>
          <p:cNvPr id="23" name="Shape 21"/>
          <p:cNvSpPr/>
          <p:nvPr/>
        </p:nvSpPr>
        <p:spPr>
          <a:xfrm>
            <a:off x="7995642" y="3408958"/>
            <a:ext cx="3380284" cy="1377752"/>
          </a:xfrm>
          <a:prstGeom prst="roundRect">
            <a:avLst>
              <a:gd name="adj" fmla="val 7144"/>
            </a:avLst>
          </a:prstGeom>
          <a:solidFill>
            <a:srgbClr val="FAFCFD"/>
          </a:solidFill>
          <a:ln w="6350">
            <a:solidFill>
              <a:srgbClr val="CFDCE4"/>
            </a:solidFill>
            <a:prstDash val="solid"/>
          </a:ln>
        </p:spPr>
      </p:sp>
      <p:sp>
        <p:nvSpPr>
          <p:cNvPr id="24" name="Text 22"/>
          <p:cNvSpPr/>
          <p:nvPr/>
        </p:nvSpPr>
        <p:spPr>
          <a:xfrm>
            <a:off x="8202017" y="3615333"/>
            <a:ext cx="19417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65A82"/>
                </a:solidFill>
                <a:latin typeface="EB Garamond" pitchFamily="18" charset="0"/>
                <a:ea typeface="EB Garamond" pitchFamily="18" charset="-122"/>
                <a:cs typeface="EB Garamond" pitchFamily="18" charset="-120"/>
              </a:rPr>
              <a:t>6</a:t>
            </a:r>
            <a:endParaRPr lang="en-US" sz="2200" dirty="0"/>
          </a:p>
        </p:txBody>
      </p:sp>
      <p:sp>
        <p:nvSpPr>
          <p:cNvPr id="25" name="Text 23"/>
          <p:cNvSpPr/>
          <p:nvPr/>
        </p:nvSpPr>
        <p:spPr>
          <a:xfrm>
            <a:off x="8446988" y="3668613"/>
            <a:ext cx="93857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203E"/>
                </a:solidFill>
                <a:latin typeface="DM Sans" pitchFamily="34" charset="0"/>
                <a:ea typeface="DM Sans" pitchFamily="34" charset="-122"/>
                <a:cs typeface="DM Sans" pitchFamily="34" charset="-120"/>
              </a:rPr>
              <a:t>Mostrar</a:t>
            </a:r>
            <a:endParaRPr lang="en-US" sz="1600" dirty="0"/>
          </a:p>
        </p:txBody>
      </p:sp>
      <p:sp>
        <p:nvSpPr>
          <p:cNvPr id="26" name="Text 24"/>
          <p:cNvSpPr/>
          <p:nvPr/>
        </p:nvSpPr>
        <p:spPr>
          <a:xfrm>
            <a:off x="8202017" y="4082653"/>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0"/>
                </a:solidFill>
                <a:latin typeface="DM Sans" pitchFamily="34" charset="0"/>
                <a:ea typeface="DM Sans" pitchFamily="34" charset="-122"/>
                <a:cs typeface="DM Sans" pitchFamily="34" charset="-120"/>
              </a:rPr>
              <a:t>La app muestra estadísticas e informes, y genera el PDF.</a:t>
            </a:r>
            <a:endParaRPr lang="en-US" sz="1400" dirty="0"/>
          </a:p>
        </p:txBody>
      </p:sp>
      <p:sp>
        <p:nvSpPr>
          <p:cNvPr id="27" name="Text 25"/>
          <p:cNvSpPr/>
          <p:nvPr/>
        </p:nvSpPr>
        <p:spPr>
          <a:xfrm>
            <a:off x="812800" y="504388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65A82"/>
                </a:solidFill>
                <a:latin typeface="DM Sans" pitchFamily="34" charset="0"/>
                <a:ea typeface="DM Sans" pitchFamily="34" charset="-122"/>
                <a:cs typeface="DM Sans" pitchFamily="34" charset="-120"/>
              </a:rPr>
              <a:t>En la fase de backend, el paso 5 también enviará el informe al servidor.</a:t>
            </a:r>
            <a:endParaRPr lang="en-US" sz="160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Lo que hace la aplicación</a:t>
            </a:r>
            <a:endParaRPr lang="en-US" sz="3600" dirty="0"/>
          </a:p>
        </p:txBody>
      </p:sp>
      <p:sp>
        <p:nvSpPr>
          <p:cNvPr id="3" name="Shape 1"/>
          <p:cNvSpPr/>
          <p:nvPr/>
        </p:nvSpPr>
        <p:spPr>
          <a:xfrm>
            <a:off x="815975" y="1572816"/>
            <a:ext cx="5175250" cy="1540470"/>
          </a:xfrm>
          <a:prstGeom prst="roundRect">
            <a:avLst>
              <a:gd name="adj" fmla="val 6389"/>
            </a:avLst>
          </a:prstGeom>
          <a:solidFill>
            <a:srgbClr val="FAFCFD"/>
          </a:solidFill>
          <a:ln w="6350">
            <a:solidFill>
              <a:srgbClr val="CFDCE4"/>
            </a:solidFill>
            <a:prstDash val="solid"/>
          </a:ln>
        </p:spPr>
      </p:sp>
      <p:pic>
        <p:nvPicPr>
          <p:cNvPr id="4" name="Image 0" descr="Clock">    </p:cNvPr>
          <p:cNvPicPr>
            <a:picLocks noChangeAspect="1"/>
          </p:cNvPicPr>
          <p:nvPr/>
        </p:nvPicPr>
        <p:blipFill>
          <a:blip r:embed="rId1"/>
          <a:srcRect l="0" r="0" t="0" b="0"/>
          <a:stretch/>
        </p:blipFill>
        <p:spPr>
          <a:xfrm>
            <a:off x="1073150" y="1829991"/>
            <a:ext cx="355600" cy="355600"/>
          </a:xfrm>
          <a:prstGeom prst="rect">
            <a:avLst/>
          </a:prstGeom>
        </p:spPr>
      </p:pic>
      <p:sp>
        <p:nvSpPr>
          <p:cNvPr id="5" name="Text 2"/>
          <p:cNvSpPr/>
          <p:nvPr/>
        </p:nvSpPr>
        <p:spPr>
          <a:xfrm>
            <a:off x="1555750" y="1840111"/>
            <a:ext cx="149268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Jornadas</a:t>
            </a:r>
            <a:endParaRPr lang="en-US" sz="2200" dirty="0"/>
          </a:p>
        </p:txBody>
      </p:sp>
      <p:sp>
        <p:nvSpPr>
          <p:cNvPr id="6" name="Text 3"/>
          <p:cNvSpPr/>
          <p:nvPr/>
        </p:nvSpPr>
        <p:spPr>
          <a:xfrm>
            <a:off x="1073150" y="228719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Horarios por día (LU–DO) con hora de inicio y término. Incluye jornadas nocturnas.</a:t>
            </a:r>
            <a:endParaRPr lang="en-US" sz="1600" dirty="0"/>
          </a:p>
        </p:txBody>
      </p:sp>
      <p:sp>
        <p:nvSpPr>
          <p:cNvPr id="7" name="Shape 4"/>
          <p:cNvSpPr/>
          <p:nvPr/>
        </p:nvSpPr>
        <p:spPr>
          <a:xfrm>
            <a:off x="6200775" y="1572816"/>
            <a:ext cx="5175250" cy="1540470"/>
          </a:xfrm>
          <a:prstGeom prst="roundRect">
            <a:avLst>
              <a:gd name="adj" fmla="val 6389"/>
            </a:avLst>
          </a:prstGeom>
          <a:solidFill>
            <a:srgbClr val="FAFCFD"/>
          </a:solidFill>
          <a:ln w="6350">
            <a:solidFill>
              <a:srgbClr val="CFDCE4"/>
            </a:solidFill>
            <a:prstDash val="solid"/>
          </a:ln>
        </p:spPr>
      </p:sp>
      <p:pic>
        <p:nvPicPr>
          <p:cNvPr id="8" name="Image 1" descr="Activity">    </p:cNvPr>
          <p:cNvPicPr>
            <a:picLocks noChangeAspect="1"/>
          </p:cNvPicPr>
          <p:nvPr/>
        </p:nvPicPr>
        <p:blipFill>
          <a:blip r:embed="rId2"/>
          <a:srcRect l="0" r="0" t="0" b="0"/>
          <a:stretch/>
        </p:blipFill>
        <p:spPr>
          <a:xfrm>
            <a:off x="6457950" y="1829991"/>
            <a:ext cx="355600" cy="355600"/>
          </a:xfrm>
          <a:prstGeom prst="rect">
            <a:avLst/>
          </a:prstGeom>
        </p:spPr>
      </p:pic>
      <p:sp>
        <p:nvSpPr>
          <p:cNvPr id="9" name="Text 5"/>
          <p:cNvSpPr/>
          <p:nvPr/>
        </p:nvSpPr>
        <p:spPr>
          <a:xfrm>
            <a:off x="6940550" y="1840111"/>
            <a:ext cx="371832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Monitoreo y categorías</a:t>
            </a:r>
            <a:endParaRPr lang="en-US" sz="2200" dirty="0"/>
          </a:p>
        </p:txBody>
      </p:sp>
      <p:sp>
        <p:nvSpPr>
          <p:cNvPr id="10" name="Text 6"/>
          <p:cNvSpPr/>
          <p:nvPr/>
        </p:nvSpPr>
        <p:spPr>
          <a:xfrm>
            <a:off x="6457950" y="228719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Uso real de cada app, clasificado en 6 categorías, de Educación a Juegos.</a:t>
            </a:r>
            <a:endParaRPr lang="en-US" sz="1600" dirty="0"/>
          </a:p>
        </p:txBody>
      </p:sp>
      <p:sp>
        <p:nvSpPr>
          <p:cNvPr id="11" name="Shape 7"/>
          <p:cNvSpPr/>
          <p:nvPr/>
        </p:nvSpPr>
        <p:spPr>
          <a:xfrm>
            <a:off x="815975" y="3322836"/>
            <a:ext cx="5175250" cy="1540470"/>
          </a:xfrm>
          <a:prstGeom prst="roundRect">
            <a:avLst>
              <a:gd name="adj" fmla="val 6389"/>
            </a:avLst>
          </a:prstGeom>
          <a:solidFill>
            <a:srgbClr val="FAFCFD"/>
          </a:solidFill>
          <a:ln w="6350">
            <a:solidFill>
              <a:srgbClr val="CFDCE4"/>
            </a:solidFill>
            <a:prstDash val="solid"/>
          </a:ln>
        </p:spPr>
      </p:sp>
      <p:pic>
        <p:nvPicPr>
          <p:cNvPr id="12" name="Image 2" descr="Chart">    </p:cNvPr>
          <p:cNvPicPr>
            <a:picLocks noChangeAspect="1"/>
          </p:cNvPicPr>
          <p:nvPr/>
        </p:nvPicPr>
        <p:blipFill>
          <a:blip r:embed="rId3"/>
          <a:srcRect l="0" r="0" t="0" b="0"/>
          <a:stretch/>
        </p:blipFill>
        <p:spPr>
          <a:xfrm>
            <a:off x="1073150" y="3580011"/>
            <a:ext cx="355600" cy="355600"/>
          </a:xfrm>
          <a:prstGeom prst="rect">
            <a:avLst/>
          </a:prstGeom>
        </p:spPr>
      </p:pic>
      <p:sp>
        <p:nvSpPr>
          <p:cNvPr id="13" name="Text 8"/>
          <p:cNvSpPr/>
          <p:nvPr/>
        </p:nvSpPr>
        <p:spPr>
          <a:xfrm>
            <a:off x="1555750" y="3590131"/>
            <a:ext cx="261151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Informes en PDF</a:t>
            </a:r>
            <a:endParaRPr lang="en-US" sz="2200" dirty="0"/>
          </a:p>
        </p:txBody>
      </p:sp>
      <p:sp>
        <p:nvSpPr>
          <p:cNvPr id="14" name="Text 9"/>
          <p:cNvSpPr/>
          <p:nvPr/>
        </p:nvSpPr>
        <p:spPr>
          <a:xfrm>
            <a:off x="1073150" y="403721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Informe automático al cerrar cada jornada, con detalle por app y PDF para ver o descargar.</a:t>
            </a:r>
            <a:endParaRPr lang="en-US" sz="1600" dirty="0"/>
          </a:p>
        </p:txBody>
      </p:sp>
      <p:sp>
        <p:nvSpPr>
          <p:cNvPr id="15" name="Shape 10"/>
          <p:cNvSpPr/>
          <p:nvPr/>
        </p:nvSpPr>
        <p:spPr>
          <a:xfrm>
            <a:off x="6200775" y="3322836"/>
            <a:ext cx="5175250" cy="1540470"/>
          </a:xfrm>
          <a:prstGeom prst="roundRect">
            <a:avLst>
              <a:gd name="adj" fmla="val 6389"/>
            </a:avLst>
          </a:prstGeom>
          <a:solidFill>
            <a:srgbClr val="FAFCFD"/>
          </a:solidFill>
          <a:ln w="6350">
            <a:solidFill>
              <a:srgbClr val="CFDCE4"/>
            </a:solidFill>
            <a:prstDash val="solid"/>
          </a:ln>
        </p:spPr>
      </p:sp>
      <p:pic>
        <p:nvPicPr>
          <p:cNvPr id="16" name="Image 3" descr="Lock">    </p:cNvPr>
          <p:cNvPicPr>
            <a:picLocks noChangeAspect="1"/>
          </p:cNvPicPr>
          <p:nvPr/>
        </p:nvPicPr>
        <p:blipFill>
          <a:blip r:embed="rId4"/>
          <a:srcRect l="0" r="0" t="0" b="0"/>
          <a:stretch/>
        </p:blipFill>
        <p:spPr>
          <a:xfrm>
            <a:off x="6457950" y="3580011"/>
            <a:ext cx="355600" cy="355600"/>
          </a:xfrm>
          <a:prstGeom prst="rect">
            <a:avLst/>
          </a:prstGeom>
        </p:spPr>
      </p:pic>
      <p:sp>
        <p:nvSpPr>
          <p:cNvPr id="17" name="Text 11"/>
          <p:cNvSpPr/>
          <p:nvPr/>
        </p:nvSpPr>
        <p:spPr>
          <a:xfrm>
            <a:off x="6940550" y="3590131"/>
            <a:ext cx="316646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Seguridad y control</a:t>
            </a:r>
            <a:endParaRPr lang="en-US" sz="2200" dirty="0"/>
          </a:p>
        </p:txBody>
      </p:sp>
      <p:sp>
        <p:nvSpPr>
          <p:cNvPr id="18" name="Text 12"/>
          <p:cNvSpPr/>
          <p:nvPr/>
        </p:nvSpPr>
        <p:spPr>
          <a:xfrm>
            <a:off x="6457950" y="403721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PIN al abrir la app y al modificar la configuración. Respeta días sin clases y feriados.</a:t>
            </a:r>
            <a:endParaRPr lang="en-US" sz="1600" dirty="0"/>
          </a:p>
        </p:txBody>
      </p:sp>
      <p:sp>
        <p:nvSpPr>
          <p:cNvPr id="19"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20"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03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AF2F6"/>
                </a:solidFill>
                <a:latin typeface="EB Garamond" pitchFamily="18" charset="0"/>
                <a:ea typeface="EB Garamond" pitchFamily="18" charset="-122"/>
                <a:cs typeface="EB Garamond" pitchFamily="18" charset="-120"/>
              </a:rPr>
              <a:t>Un defecto real, encontrado y corregido</a:t>
            </a:r>
            <a:endParaRPr lang="en-US" sz="3600" dirty="0"/>
          </a:p>
        </p:txBody>
      </p:sp>
      <p:sp>
        <p:nvSpPr>
          <p:cNvPr id="3" name="Shape 1"/>
          <p:cNvSpPr/>
          <p:nvPr/>
        </p:nvSpPr>
        <p:spPr>
          <a:xfrm>
            <a:off x="815975" y="1572816"/>
            <a:ext cx="5175250" cy="2378571"/>
          </a:xfrm>
          <a:prstGeom prst="roundRect">
            <a:avLst>
              <a:gd name="adj" fmla="val 4138"/>
            </a:avLst>
          </a:prstGeom>
          <a:solidFill>
            <a:srgbClr val="22305A"/>
          </a:solidFill>
          <a:ln w="6350">
            <a:solidFill>
              <a:srgbClr val="F96167"/>
            </a:solidFill>
            <a:prstDash val="solid"/>
          </a:ln>
        </p:spPr>
      </p:sp>
      <p:sp>
        <p:nvSpPr>
          <p:cNvPr id="4" name="Text 2"/>
          <p:cNvSpPr/>
          <p:nvPr/>
        </p:nvSpPr>
        <p:spPr>
          <a:xfrm>
            <a:off x="1073150" y="1829991"/>
            <a:ext cx="889000" cy="314920"/>
          </a:xfrm>
          <a:prstGeom prst="roundRect">
            <a:avLst>
              <a:gd name="adj" fmla="val 50000"/>
            </a:avLst>
          </a:prstGeom>
          <a:solidFill>
            <a:srgbClr val="F96167"/>
          </a:solidFill>
          <a:ln/>
        </p:spPr>
        <p:txBody>
          <a:bodyPr wrap="square" lIns="55481" tIns="4681" rIns="55481" bIns="0" rtlCol="0" anchor="t">
            <a:normAutofit/>
          </a:bodyPr>
          <a:lstStyle/>
          <a:p>
            <a:pPr algn="ctr" indent="0" marL="0">
              <a:lnSpc>
                <a:spcPts val="1680"/>
              </a:lnSpc>
              <a:buNone/>
            </a:pPr>
            <a:r>
              <a:rPr lang="en-US" sz="1200" b="1" spc="150" kern="0" dirty="0">
                <a:solidFill>
                  <a:srgbClr val="17203E"/>
                </a:solidFill>
                <a:latin typeface="DM Sans" pitchFamily="34" charset="0"/>
                <a:ea typeface="DM Sans" pitchFamily="34" charset="-122"/>
                <a:cs typeface="DM Sans" pitchFamily="34" charset="-120"/>
              </a:rPr>
              <a:t>ANTES</a:t>
            </a:r>
            <a:endParaRPr lang="en-US" sz="1200" dirty="0"/>
          </a:p>
        </p:txBody>
      </p:sp>
      <p:sp>
        <p:nvSpPr>
          <p:cNvPr id="5" name="Text 3"/>
          <p:cNvSpPr/>
          <p:nvPr/>
        </p:nvSpPr>
        <p:spPr>
          <a:xfrm>
            <a:off x="1137158" y="2271911"/>
            <a:ext cx="4729099" cy="144770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Informes de jornada con 0 minutos totales</a:t>
            </a:r>
            <a:endParaRPr lang="en-US" sz="1600" dirty="0"/>
          </a:p>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El rango se calculaba con la fecha de ejecución</a:t>
            </a:r>
            <a:endParaRPr lang="en-US" sz="1600" dirty="0"/>
          </a:p>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Si Android retrasaba el proceso, el rango quedaba invertido</a:t>
            </a:r>
            <a:endParaRPr lang="en-US" sz="1600" dirty="0"/>
          </a:p>
        </p:txBody>
      </p:sp>
      <p:sp>
        <p:nvSpPr>
          <p:cNvPr id="6" name="Shape 4"/>
          <p:cNvSpPr/>
          <p:nvPr/>
        </p:nvSpPr>
        <p:spPr>
          <a:xfrm>
            <a:off x="6200775" y="1572816"/>
            <a:ext cx="5175250" cy="2378571"/>
          </a:xfrm>
          <a:prstGeom prst="roundRect">
            <a:avLst>
              <a:gd name="adj" fmla="val 4138"/>
            </a:avLst>
          </a:prstGeom>
          <a:solidFill>
            <a:srgbClr val="22305A"/>
          </a:solidFill>
          <a:ln w="6350">
            <a:solidFill>
              <a:srgbClr val="6FCF97"/>
            </a:solidFill>
            <a:prstDash val="solid"/>
          </a:ln>
        </p:spPr>
      </p:sp>
      <p:sp>
        <p:nvSpPr>
          <p:cNvPr id="7" name="Text 5"/>
          <p:cNvSpPr/>
          <p:nvPr/>
        </p:nvSpPr>
        <p:spPr>
          <a:xfrm>
            <a:off x="6457950" y="1829991"/>
            <a:ext cx="1143000" cy="314920"/>
          </a:xfrm>
          <a:prstGeom prst="roundRect">
            <a:avLst>
              <a:gd name="adj" fmla="val 50000"/>
            </a:avLst>
          </a:prstGeom>
          <a:solidFill>
            <a:srgbClr val="6FCF97"/>
          </a:solidFill>
          <a:ln/>
        </p:spPr>
        <p:txBody>
          <a:bodyPr wrap="square" lIns="55481" tIns="4681" rIns="55481" bIns="0" rtlCol="0" anchor="t">
            <a:normAutofit/>
          </a:bodyPr>
          <a:lstStyle/>
          <a:p>
            <a:pPr algn="ctr" indent="0" marL="0">
              <a:lnSpc>
                <a:spcPts val="1680"/>
              </a:lnSpc>
              <a:buNone/>
            </a:pPr>
            <a:r>
              <a:rPr lang="en-US" sz="1200" b="1" spc="150" kern="0" dirty="0">
                <a:solidFill>
                  <a:srgbClr val="17203E"/>
                </a:solidFill>
                <a:latin typeface="DM Sans" pitchFamily="34" charset="0"/>
                <a:ea typeface="DM Sans" pitchFamily="34" charset="-122"/>
                <a:cs typeface="DM Sans" pitchFamily="34" charset="-120"/>
              </a:rPr>
              <a:t>DESPUÉS</a:t>
            </a:r>
            <a:endParaRPr lang="en-US" sz="1200" dirty="0"/>
          </a:p>
        </p:txBody>
      </p:sp>
      <p:sp>
        <p:nvSpPr>
          <p:cNvPr id="8" name="Text 6"/>
          <p:cNvSpPr/>
          <p:nvPr/>
        </p:nvSpPr>
        <p:spPr>
          <a:xfrm>
            <a:off x="6521958" y="2271911"/>
            <a:ext cx="4729099" cy="144770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Rango calculado con la fecha objetivo de la jornada</a:t>
            </a:r>
            <a:endParaRPr lang="en-US" sz="1600" dirty="0"/>
          </a:p>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Cada ejecución se reprograma a la próxima hora de término</a:t>
            </a:r>
            <a:endParaRPr lang="en-US" sz="1600" dirty="0"/>
          </a:p>
          <a:p>
            <a:pPr algn="l" marL="189992" indent="-189992">
              <a:lnSpc>
                <a:spcPts val="2240"/>
              </a:lnSpc>
              <a:buSzPct val="100000"/>
              <a:buChar char="•"/>
            </a:pPr>
            <a:r>
              <a:rPr lang="en-US" sz="1600" dirty="0">
                <a:solidFill>
                  <a:srgbClr val="EAF2F6"/>
                </a:solidFill>
                <a:latin typeface="DM Sans" pitchFamily="34" charset="0"/>
                <a:ea typeface="DM Sans" pitchFamily="34" charset="-122"/>
                <a:cs typeface="DM Sans" pitchFamily="34" charset="-120"/>
              </a:rPr>
              <a:t>Un rango inválido ya no guarda informes vacíos</a:t>
            </a:r>
            <a:endParaRPr lang="en-US" sz="1600" dirty="0"/>
          </a:p>
        </p:txBody>
      </p:sp>
      <p:sp>
        <p:nvSpPr>
          <p:cNvPr id="9" name="Text 7"/>
          <p:cNvSpPr/>
          <p:nvPr/>
        </p:nvSpPr>
        <p:spPr>
          <a:xfrm>
            <a:off x="812800" y="42085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4"/>
                </a:solidFill>
                <a:latin typeface="DM Sans" pitchFamily="34" charset="0"/>
                <a:ea typeface="DM Sans" pitchFamily="34" charset="-122"/>
                <a:cs typeface="DM Sans" pitchFamily="34" charset="-120"/>
              </a:rPr>
              <a:t>Lo detectamos probando en un teléfono real y lo diagnosticamos con logs.</a:t>
            </a:r>
            <a:endParaRPr lang="en-US" sz="16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4"/>
                </a:solidFill>
                <a:latin typeface="DM Sans" pitchFamily="34" charset="0"/>
                <a:ea typeface="DM Sans" pitchFamily="34" charset="-122"/>
                <a:cs typeface="DM Sans" pitchFamily="34" charset="-120"/>
              </a:rPr>
              <a:t>NEXO · Avance semana 10</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4"/>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Pruebas y calidad</a:t>
            </a:r>
            <a:endParaRPr lang="en-US" sz="3600" dirty="0"/>
          </a:p>
        </p:txBody>
      </p:sp>
      <p:sp>
        <p:nvSpPr>
          <p:cNvPr id="3" name="Shape 1"/>
          <p:cNvSpPr/>
          <p:nvPr/>
        </p:nvSpPr>
        <p:spPr>
          <a:xfrm>
            <a:off x="815975" y="1623616"/>
            <a:ext cx="3380284" cy="2744391"/>
          </a:xfrm>
          <a:prstGeom prst="roundRect">
            <a:avLst>
              <a:gd name="adj" fmla="val 3586"/>
            </a:avLst>
          </a:prstGeom>
          <a:solidFill>
            <a:srgbClr val="FAFCFD"/>
          </a:solidFill>
          <a:ln w="6350">
            <a:solidFill>
              <a:srgbClr val="CFDCE4"/>
            </a:solidFill>
            <a:prstDash val="solid"/>
          </a:ln>
        </p:spPr>
      </p:sp>
      <p:sp>
        <p:nvSpPr>
          <p:cNvPr id="4" name="Text 2"/>
          <p:cNvSpPr/>
          <p:nvPr/>
        </p:nvSpPr>
        <p:spPr>
          <a:xfrm>
            <a:off x="1073150" y="1880791"/>
            <a:ext cx="295191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065A82"/>
                </a:solidFill>
                <a:latin typeface="EB Garamond" pitchFamily="18" charset="0"/>
                <a:ea typeface="EB Garamond" pitchFamily="18" charset="-122"/>
                <a:cs typeface="EB Garamond" pitchFamily="18" charset="-120"/>
              </a:rPr>
              <a:t>23</a:t>
            </a:r>
            <a:endParaRPr lang="en-US" sz="6000" dirty="0"/>
          </a:p>
        </p:txBody>
      </p:sp>
      <p:sp>
        <p:nvSpPr>
          <p:cNvPr id="5" name="Text 3"/>
          <p:cNvSpPr/>
          <p:nvPr/>
        </p:nvSpPr>
        <p:spPr>
          <a:xfrm>
            <a:off x="1073150" y="28205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pruebas unitarias</a:t>
            </a:r>
            <a:endParaRPr lang="en-US" sz="2200" dirty="0"/>
          </a:p>
        </p:txBody>
      </p:sp>
      <p:sp>
        <p:nvSpPr>
          <p:cNvPr id="6" name="Text 4"/>
          <p:cNvSpPr/>
          <p:nvPr/>
        </p:nvSpPr>
        <p:spPr>
          <a:xfrm>
            <a:off x="1073150" y="32574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Clasificación de apps, lógica de jornadas y hash del PIN. Todas pasan.</a:t>
            </a:r>
            <a:endParaRPr lang="en-US" sz="1600" dirty="0"/>
          </a:p>
        </p:txBody>
      </p:sp>
      <p:sp>
        <p:nvSpPr>
          <p:cNvPr id="7" name="Shape 5"/>
          <p:cNvSpPr/>
          <p:nvPr/>
        </p:nvSpPr>
        <p:spPr>
          <a:xfrm>
            <a:off x="4405809" y="1623616"/>
            <a:ext cx="3380383" cy="2744391"/>
          </a:xfrm>
          <a:prstGeom prst="roundRect">
            <a:avLst>
              <a:gd name="adj" fmla="val 3586"/>
            </a:avLst>
          </a:prstGeom>
          <a:solidFill>
            <a:srgbClr val="FAFCFD"/>
          </a:solidFill>
          <a:ln w="6350">
            <a:solidFill>
              <a:srgbClr val="CFDCE4"/>
            </a:solidFill>
            <a:prstDash val="solid"/>
          </a:ln>
        </p:spPr>
      </p:sp>
      <p:sp>
        <p:nvSpPr>
          <p:cNvPr id="8" name="Text 6"/>
          <p:cNvSpPr/>
          <p:nvPr/>
        </p:nvSpPr>
        <p:spPr>
          <a:xfrm>
            <a:off x="4662984" y="1880791"/>
            <a:ext cx="2952014"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065A82"/>
                </a:solidFill>
                <a:latin typeface="EB Garamond" pitchFamily="18" charset="0"/>
                <a:ea typeface="EB Garamond" pitchFamily="18" charset="-122"/>
                <a:cs typeface="EB Garamond" pitchFamily="18" charset="-120"/>
              </a:rPr>
              <a:t>0</a:t>
            </a:r>
            <a:endParaRPr lang="en-US" sz="6000" dirty="0"/>
          </a:p>
        </p:txBody>
      </p:sp>
      <p:sp>
        <p:nvSpPr>
          <p:cNvPr id="9" name="Text 7"/>
          <p:cNvSpPr/>
          <p:nvPr/>
        </p:nvSpPr>
        <p:spPr>
          <a:xfrm>
            <a:off x="4662984" y="282059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errores de lint</a:t>
            </a:r>
            <a:endParaRPr lang="en-US" sz="2200" dirty="0"/>
          </a:p>
        </p:txBody>
      </p:sp>
      <p:sp>
        <p:nvSpPr>
          <p:cNvPr id="10" name="Text 8"/>
          <p:cNvSpPr/>
          <p:nvPr/>
        </p:nvSpPr>
        <p:spPr>
          <a:xfrm>
            <a:off x="4662984" y="3257451"/>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El análisis estático de Android no reporta errores en el proyecto.</a:t>
            </a:r>
            <a:endParaRPr lang="en-US" sz="1600" dirty="0"/>
          </a:p>
        </p:txBody>
      </p:sp>
      <p:sp>
        <p:nvSpPr>
          <p:cNvPr id="11" name="Shape 9"/>
          <p:cNvSpPr/>
          <p:nvPr/>
        </p:nvSpPr>
        <p:spPr>
          <a:xfrm>
            <a:off x="7995741" y="1623616"/>
            <a:ext cx="3380284" cy="2744391"/>
          </a:xfrm>
          <a:prstGeom prst="roundRect">
            <a:avLst>
              <a:gd name="adj" fmla="val 3586"/>
            </a:avLst>
          </a:prstGeom>
          <a:solidFill>
            <a:srgbClr val="FAFCFD"/>
          </a:solidFill>
          <a:ln w="6350">
            <a:solidFill>
              <a:srgbClr val="CFDCE4"/>
            </a:solidFill>
            <a:prstDash val="solid"/>
          </a:ln>
        </p:spPr>
      </p:sp>
      <p:pic>
        <p:nvPicPr>
          <p:cNvPr id="12" name="Image 0" descr="Search">    </p:cNvPr>
          <p:cNvPicPr>
            <a:picLocks noChangeAspect="1"/>
          </p:cNvPicPr>
          <p:nvPr/>
        </p:nvPicPr>
        <p:blipFill>
          <a:blip r:embed="rId1"/>
          <a:srcRect l="0" r="0" t="0" b="0"/>
          <a:stretch/>
        </p:blipFill>
        <p:spPr>
          <a:xfrm>
            <a:off x="8252916" y="1995091"/>
            <a:ext cx="609600" cy="609600"/>
          </a:xfrm>
          <a:prstGeom prst="rect">
            <a:avLst/>
          </a:prstGeom>
        </p:spPr>
      </p:pic>
      <p:sp>
        <p:nvSpPr>
          <p:cNvPr id="13" name="Text 10"/>
          <p:cNvSpPr/>
          <p:nvPr/>
        </p:nvSpPr>
        <p:spPr>
          <a:xfrm>
            <a:off x="8252916" y="28205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auditoría de código</a:t>
            </a:r>
            <a:endParaRPr lang="en-US" sz="2200" dirty="0"/>
          </a:p>
        </p:txBody>
      </p:sp>
      <p:sp>
        <p:nvSpPr>
          <p:cNvPr id="14" name="Text 11"/>
          <p:cNvSpPr/>
          <p:nvPr/>
        </p:nvSpPr>
        <p:spPr>
          <a:xfrm>
            <a:off x="8252916" y="32574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Revisión completa con hallazgos priorizados y corregidos.</a:t>
            </a:r>
            <a:endParaRPr lang="en-US" sz="1600" dirty="0"/>
          </a:p>
        </p:txBody>
      </p:sp>
      <p:sp>
        <p:nvSpPr>
          <p:cNvPr id="15"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Informes solo cuando corresponde</a:t>
            </a:r>
            <a:endParaRPr lang="en-US" sz="3600" dirty="0"/>
          </a:p>
        </p:txBody>
      </p:sp>
      <p:sp>
        <p:nvSpPr>
          <p:cNvPr id="3" name="Shape 1"/>
          <p:cNvSpPr/>
          <p:nvPr/>
        </p:nvSpPr>
        <p:spPr>
          <a:xfrm>
            <a:off x="815975" y="1572816"/>
            <a:ext cx="3380284" cy="1804591"/>
          </a:xfrm>
          <a:prstGeom prst="roundRect">
            <a:avLst>
              <a:gd name="adj" fmla="val 5454"/>
            </a:avLst>
          </a:prstGeom>
          <a:solidFill>
            <a:srgbClr val="FAFCFD"/>
          </a:solidFill>
          <a:ln w="6350">
            <a:solidFill>
              <a:srgbClr val="CFDCE4"/>
            </a:solidFill>
            <a:prstDash val="solid"/>
          </a:ln>
        </p:spPr>
      </p:sp>
      <p:sp>
        <p:nvSpPr>
          <p:cNvPr id="4" name="Text 2"/>
          <p:cNvSpPr/>
          <p:nvPr/>
        </p:nvSpPr>
        <p:spPr>
          <a:xfrm>
            <a:off x="1073150" y="18299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Días de la jornada</a:t>
            </a:r>
            <a:endParaRPr lang="en-US" sz="2200" dirty="0"/>
          </a:p>
        </p:txBody>
      </p:sp>
      <p:sp>
        <p:nvSpPr>
          <p:cNvPr id="5" name="Text 3"/>
          <p:cNvSpPr/>
          <p:nvPr/>
        </p:nvSpPr>
        <p:spPr>
          <a:xfrm>
            <a:off x="1073150" y="226685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Solo se genera en los días configurados (LU–DO).</a:t>
            </a:r>
            <a:endParaRPr lang="en-US" sz="1600" dirty="0"/>
          </a:p>
        </p:txBody>
      </p:sp>
      <p:sp>
        <p:nvSpPr>
          <p:cNvPr id="6" name="Shape 4"/>
          <p:cNvSpPr/>
          <p:nvPr/>
        </p:nvSpPr>
        <p:spPr>
          <a:xfrm>
            <a:off x="4405809" y="1572816"/>
            <a:ext cx="3380383" cy="1804591"/>
          </a:xfrm>
          <a:prstGeom prst="roundRect">
            <a:avLst>
              <a:gd name="adj" fmla="val 5454"/>
            </a:avLst>
          </a:prstGeom>
          <a:solidFill>
            <a:srgbClr val="FAFCFD"/>
          </a:solidFill>
          <a:ln w="6350">
            <a:solidFill>
              <a:srgbClr val="CFDCE4"/>
            </a:solidFill>
            <a:prstDash val="solid"/>
          </a:ln>
        </p:spPr>
      </p:sp>
      <p:sp>
        <p:nvSpPr>
          <p:cNvPr id="7" name="Text 5"/>
          <p:cNvSpPr/>
          <p:nvPr/>
        </p:nvSpPr>
        <p:spPr>
          <a:xfrm>
            <a:off x="4662984" y="182999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Feriados chilenos</a:t>
            </a:r>
            <a:endParaRPr lang="en-US" sz="2200" dirty="0"/>
          </a:p>
        </p:txBody>
      </p:sp>
      <p:sp>
        <p:nvSpPr>
          <p:cNvPr id="8" name="Text 6"/>
          <p:cNvSpPr/>
          <p:nvPr/>
        </p:nvSpPr>
        <p:spPr>
          <a:xfrm>
            <a:off x="4662984" y="2266851"/>
            <a:ext cx="295201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No se genera informe en feriados. La lista se actualiza cada año.</a:t>
            </a:r>
            <a:endParaRPr lang="en-US" sz="1600" dirty="0"/>
          </a:p>
        </p:txBody>
      </p:sp>
      <p:sp>
        <p:nvSpPr>
          <p:cNvPr id="9" name="Shape 7"/>
          <p:cNvSpPr/>
          <p:nvPr/>
        </p:nvSpPr>
        <p:spPr>
          <a:xfrm>
            <a:off x="7995741" y="1572816"/>
            <a:ext cx="3380284" cy="1804591"/>
          </a:xfrm>
          <a:prstGeom prst="roundRect">
            <a:avLst>
              <a:gd name="adj" fmla="val 5454"/>
            </a:avLst>
          </a:prstGeom>
          <a:solidFill>
            <a:srgbClr val="FAFCFD"/>
          </a:solidFill>
          <a:ln w="6350">
            <a:solidFill>
              <a:srgbClr val="CFDCE4"/>
            </a:solidFill>
            <a:prstDash val="solid"/>
          </a:ln>
        </p:spPr>
      </p:sp>
      <p:sp>
        <p:nvSpPr>
          <p:cNvPr id="10" name="Text 8"/>
          <p:cNvSpPr/>
          <p:nvPr/>
        </p:nvSpPr>
        <p:spPr>
          <a:xfrm>
            <a:off x="8252916" y="18299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E"/>
                </a:solidFill>
                <a:latin typeface="DM Sans" pitchFamily="34" charset="0"/>
                <a:ea typeface="DM Sans" pitchFamily="34" charset="-122"/>
                <a:cs typeface="DM Sans" pitchFamily="34" charset="-120"/>
              </a:rPr>
              <a:t>Días sin clases</a:t>
            </a:r>
            <a:endParaRPr lang="en-US" sz="2200" dirty="0"/>
          </a:p>
        </p:txBody>
      </p:sp>
      <p:sp>
        <p:nvSpPr>
          <p:cNvPr id="11" name="Text 9"/>
          <p:cNvSpPr/>
          <p:nvPr/>
        </p:nvSpPr>
        <p:spPr>
          <a:xfrm>
            <a:off x="8252916" y="22668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0"/>
                </a:solidFill>
                <a:latin typeface="DM Sans" pitchFamily="34" charset="0"/>
                <a:ea typeface="DM Sans" pitchFamily="34" charset="-122"/>
                <a:cs typeface="DM Sans" pitchFamily="34" charset="-120"/>
              </a:rPr>
              <a:t>El apoderado marca excepciones y ese día queda sin informe.</a:t>
            </a:r>
            <a:endParaRPr lang="en-US" sz="1600" dirty="0"/>
          </a:p>
        </p:txBody>
      </p:sp>
      <p:sp>
        <p:nvSpPr>
          <p:cNvPr id="12" name="Text 10"/>
          <p:cNvSpPr/>
          <p:nvPr/>
        </p:nvSpPr>
        <p:spPr>
          <a:xfrm>
            <a:off x="812800" y="3634581"/>
            <a:ext cx="10566400" cy="690860"/>
          </a:xfrm>
          <a:prstGeom prst="roundRect">
            <a:avLst>
              <a:gd name="adj" fmla="val 14706"/>
            </a:avLst>
          </a:prstGeom>
          <a:solidFill>
            <a:srgbClr val="17203E"/>
          </a:solidFill>
          <a:ln/>
        </p:spPr>
        <p:txBody>
          <a:bodyPr wrap="square" lIns="224242" tIns="173442" rIns="0" bIns="148042" rtlCol="0" anchor="t">
            <a:normAutofit/>
          </a:bodyPr>
          <a:lstStyle/>
          <a:p>
            <a:pPr algn="l" indent="0" marL="0">
              <a:lnSpc>
                <a:spcPts val="2240"/>
              </a:lnSpc>
              <a:buNone/>
            </a:pPr>
            <a:r>
              <a:rPr lang="en-US" sz="1600" b="1" dirty="0">
                <a:solidFill>
                  <a:srgbClr val="EAF2F6"/>
                </a:solidFill>
                <a:latin typeface="DM Sans" pitchFamily="34" charset="0"/>
                <a:ea typeface="DM Sans" pitchFamily="34" charset="-122"/>
                <a:cs typeface="DM Sans" pitchFamily="34" charset="-120"/>
              </a:rPr>
              <a:t>Evidencia real:</a:t>
            </a:r>
            <a:r>
              <a:rPr lang="en-US" sz="1600" dirty="0">
                <a:solidFill>
                  <a:srgbClr val="EAF2F6"/>
                </a:solidFill>
                <a:latin typeface="DM Sans" pitchFamily="34" charset="0"/>
                <a:ea typeface="DM Sans" pitchFamily="34" charset="-122"/>
                <a:cs typeface="DM Sans" pitchFamily="34" charset="-120"/>
              </a:rPr>
              <a:t> en octubre no hay informes para el sáb 3, dom 4, sáb 10, dom 11 ni para el feriado del lun 12.</a:t>
            </a:r>
            <a:endParaRPr lang="en-US" sz="16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3E"/>
                </a:solidFill>
                <a:latin typeface="EB Garamond" pitchFamily="18" charset="0"/>
                <a:ea typeface="EB Garamond" pitchFamily="18" charset="-122"/>
                <a:cs typeface="EB Garamond" pitchFamily="18" charset="-120"/>
              </a:rPr>
              <a:t>Freemium: la seguridad es para todos</a:t>
            </a:r>
            <a:endParaRPr lang="en-US" sz="3600" dirty="0"/>
          </a:p>
        </p:txBody>
      </p:sp>
      <p:sp>
        <p:nvSpPr>
          <p:cNvPr id="3" name="Shape 1"/>
          <p:cNvSpPr/>
          <p:nvPr/>
        </p:nvSpPr>
        <p:spPr>
          <a:xfrm>
            <a:off x="815975" y="1572816"/>
            <a:ext cx="5181600" cy="2785070"/>
          </a:xfrm>
          <a:prstGeom prst="roundRect">
            <a:avLst>
              <a:gd name="adj" fmla="val 3534"/>
            </a:avLst>
          </a:prstGeom>
          <a:solidFill>
            <a:srgbClr val="FAFCFD"/>
          </a:solidFill>
          <a:ln w="6350">
            <a:solidFill>
              <a:srgbClr val="CFDCE4"/>
            </a:solidFill>
            <a:prstDash val="solid"/>
          </a:ln>
        </p:spPr>
      </p:sp>
      <p:sp>
        <p:nvSpPr>
          <p:cNvPr id="4" name="Text 2"/>
          <p:cNvSpPr/>
          <p:nvPr/>
        </p:nvSpPr>
        <p:spPr>
          <a:xfrm>
            <a:off x="1073150" y="1829991"/>
            <a:ext cx="1016000" cy="314920"/>
          </a:xfrm>
          <a:prstGeom prst="roundRect">
            <a:avLst>
              <a:gd name="adj" fmla="val 50000"/>
            </a:avLst>
          </a:prstGeom>
          <a:solidFill>
            <a:srgbClr val="065A82"/>
          </a:solidFill>
          <a:ln/>
        </p:spPr>
        <p:txBody>
          <a:bodyPr wrap="square" lIns="55481" tIns="4681" rIns="55481" bIns="0" rtlCol="0" anchor="t">
            <a:normAutofit/>
          </a:bodyPr>
          <a:lstStyle/>
          <a:p>
            <a:pPr algn="ctr" indent="0" marL="0">
              <a:lnSpc>
                <a:spcPts val="1680"/>
              </a:lnSpc>
              <a:buNone/>
            </a:pPr>
            <a:r>
              <a:rPr lang="en-US" sz="1200" b="1" spc="150" kern="0" dirty="0">
                <a:solidFill>
                  <a:srgbClr val="EAF2F6"/>
                </a:solidFill>
                <a:latin typeface="DM Sans" pitchFamily="34" charset="0"/>
                <a:ea typeface="DM Sans" pitchFamily="34" charset="-122"/>
                <a:cs typeface="DM Sans" pitchFamily="34" charset="-120"/>
              </a:rPr>
              <a:t>GRATIS</a:t>
            </a:r>
            <a:endParaRPr lang="en-US" sz="1200" dirty="0"/>
          </a:p>
        </p:txBody>
      </p:sp>
      <p:sp>
        <p:nvSpPr>
          <p:cNvPr id="5" name="Text 3"/>
          <p:cNvSpPr/>
          <p:nvPr/>
        </p:nvSpPr>
        <p:spPr>
          <a:xfrm>
            <a:off x="1137158" y="2271911"/>
            <a:ext cx="4735640" cy="18542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Jornadas configurables</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Estadísticas por categoría y app</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PIN al abrir y al modificar</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Verificación en dos pasos*</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Informes en PDF, locales</a:t>
            </a:r>
            <a:endParaRPr lang="en-US" sz="1600" dirty="0"/>
          </a:p>
          <a:p>
            <a:pPr algn="l" marL="189992" indent="-189992">
              <a:lnSpc>
                <a:spcPts val="2400"/>
              </a:lnSpc>
              <a:buSzPct val="100000"/>
              <a:buChar char="•"/>
            </a:pPr>
            <a:r>
              <a:rPr lang="en-US" sz="1600" dirty="0">
                <a:solidFill>
                  <a:srgbClr val="1B2430"/>
                </a:solidFill>
                <a:latin typeface="DM Sans" pitchFamily="34" charset="0"/>
                <a:ea typeface="DM Sans" pitchFamily="34" charset="-122"/>
                <a:cs typeface="DM Sans" pitchFamily="34" charset="-120"/>
              </a:rPr>
              <a:t>Días sin clases y tema claro/oscuro</a:t>
            </a:r>
            <a:endParaRPr lang="en-US" sz="1600" dirty="0"/>
          </a:p>
        </p:txBody>
      </p:sp>
      <p:sp>
        <p:nvSpPr>
          <p:cNvPr id="6" name="Shape 4"/>
          <p:cNvSpPr/>
          <p:nvPr/>
        </p:nvSpPr>
        <p:spPr>
          <a:xfrm>
            <a:off x="6203950" y="1569641"/>
            <a:ext cx="5175250" cy="2791420"/>
          </a:xfrm>
          <a:prstGeom prst="roundRect">
            <a:avLst>
              <a:gd name="adj" fmla="val 3640"/>
            </a:avLst>
          </a:prstGeom>
          <a:solidFill>
            <a:srgbClr val="065A82"/>
          </a:solidFill>
          <a:ln/>
        </p:spPr>
      </p:sp>
      <p:sp>
        <p:nvSpPr>
          <p:cNvPr id="7" name="Text 5"/>
          <p:cNvSpPr/>
          <p:nvPr/>
        </p:nvSpPr>
        <p:spPr>
          <a:xfrm>
            <a:off x="6457950" y="1823641"/>
            <a:ext cx="1143000" cy="314920"/>
          </a:xfrm>
          <a:prstGeom prst="roundRect">
            <a:avLst>
              <a:gd name="adj" fmla="val 50000"/>
            </a:avLst>
          </a:prstGeom>
          <a:solidFill>
            <a:srgbClr val="F96167"/>
          </a:solidFill>
          <a:ln/>
        </p:spPr>
        <p:txBody>
          <a:bodyPr wrap="square" lIns="55481" tIns="4681" rIns="55481" bIns="0" rtlCol="0" anchor="t">
            <a:normAutofit/>
          </a:bodyPr>
          <a:lstStyle/>
          <a:p>
            <a:pPr algn="ctr" indent="0" marL="0">
              <a:lnSpc>
                <a:spcPts val="1680"/>
              </a:lnSpc>
              <a:buNone/>
            </a:pPr>
            <a:r>
              <a:rPr lang="en-US" sz="1200" b="1" spc="150" kern="0" dirty="0">
                <a:solidFill>
                  <a:srgbClr val="17203E"/>
                </a:solidFill>
                <a:latin typeface="DM Sans" pitchFamily="34" charset="0"/>
                <a:ea typeface="DM Sans" pitchFamily="34" charset="-122"/>
                <a:cs typeface="DM Sans" pitchFamily="34" charset="-120"/>
              </a:rPr>
              <a:t>PREMIUM</a:t>
            </a:r>
            <a:endParaRPr lang="en-US" sz="1200" dirty="0"/>
          </a:p>
        </p:txBody>
      </p:sp>
      <p:sp>
        <p:nvSpPr>
          <p:cNvPr id="8" name="Text 6"/>
          <p:cNvSpPr/>
          <p:nvPr/>
        </p:nvSpPr>
        <p:spPr>
          <a:xfrm>
            <a:off x="6521958" y="2265561"/>
            <a:ext cx="4735640"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Informe automático por correo</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Historial en la nube</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Tendencias y alertas de uso</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Más jornadas y más hijos</a:t>
            </a:r>
            <a:endParaRPr lang="en-US" sz="1600" dirty="0"/>
          </a:p>
          <a:p>
            <a:pPr algn="l" marL="189992" indent="-189992">
              <a:lnSpc>
                <a:spcPts val="2400"/>
              </a:lnSpc>
              <a:buSzPct val="100000"/>
              <a:buChar char="•"/>
            </a:pPr>
            <a:r>
              <a:rPr lang="en-US" sz="1600" dirty="0">
                <a:solidFill>
                  <a:srgbClr val="EAF2F6"/>
                </a:solidFill>
                <a:latin typeface="DM Sans" pitchFamily="34" charset="0"/>
                <a:ea typeface="DM Sans" pitchFamily="34" charset="-122"/>
                <a:cs typeface="DM Sans" pitchFamily="34" charset="-120"/>
              </a:rPr>
              <a:t>PDF con diseño ampliado</a:t>
            </a:r>
            <a:endParaRPr lang="en-US" sz="1600" dirty="0"/>
          </a:p>
        </p:txBody>
      </p:sp>
      <p:sp>
        <p:nvSpPr>
          <p:cNvPr id="9" name="Text 7"/>
          <p:cNvSpPr/>
          <p:nvPr/>
        </p:nvSpPr>
        <p:spPr>
          <a:xfrm>
            <a:off x="812800" y="46150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 La verificación en dos pasos y Premium se habilitan en la fase de backend. El MVP actual es la versión gratuita.</a:t>
            </a:r>
            <a:endParaRPr lang="en-US" sz="12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D6B"/>
                </a:solidFill>
                <a:latin typeface="DM Sans" pitchFamily="34" charset="0"/>
                <a:ea typeface="DM Sans" pitchFamily="34" charset="-122"/>
                <a:cs typeface="DM Sans" pitchFamily="34" charset="-120"/>
              </a:rPr>
              <a:t>NEXO · Avance semana 10</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D6B"/>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03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AF2F6"/>
                </a:solidFill>
                <a:latin typeface="EB Garamond" pitchFamily="18" charset="0"/>
                <a:ea typeface="EB Garamond" pitchFamily="18" charset="-122"/>
                <a:cs typeface="EB Garamond" pitchFamily="18" charset="-120"/>
              </a:rPr>
              <a:t>Siguientes pasos hasta la semana 15</a:t>
            </a:r>
            <a:endParaRPr lang="en-US" sz="3600" dirty="0"/>
          </a:p>
        </p:txBody>
      </p:sp>
      <p:sp>
        <p:nvSpPr>
          <p:cNvPr id="3" name="Shape 1"/>
          <p:cNvSpPr/>
          <p:nvPr/>
        </p:nvSpPr>
        <p:spPr>
          <a:xfrm>
            <a:off x="815975" y="1522016"/>
            <a:ext cx="3380284" cy="1804591"/>
          </a:xfrm>
          <a:prstGeom prst="roundRect">
            <a:avLst>
              <a:gd name="adj" fmla="val 5454"/>
            </a:avLst>
          </a:prstGeom>
          <a:solidFill>
            <a:srgbClr val="22305A"/>
          </a:solidFill>
          <a:ln w="6350">
            <a:solidFill>
              <a:srgbClr val="34457A"/>
            </a:solidFill>
            <a:prstDash val="solid"/>
          </a:ln>
        </p:spPr>
      </p:sp>
      <p:sp>
        <p:nvSpPr>
          <p:cNvPr id="4" name="Text 2"/>
          <p:cNvSpPr/>
          <p:nvPr/>
        </p:nvSpPr>
        <p:spPr>
          <a:xfrm>
            <a:off x="1073150" y="1779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Backend</a:t>
            </a:r>
            <a:endParaRPr lang="en-US" sz="2200" dirty="0"/>
          </a:p>
        </p:txBody>
      </p:sp>
      <p:sp>
        <p:nvSpPr>
          <p:cNvPr id="5" name="Text 3"/>
          <p:cNvSpPr/>
          <p:nvPr/>
        </p:nvSpPr>
        <p:spPr>
          <a:xfrm>
            <a:off x="1073150" y="221605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Django REST y PostgreSQL, tras consolidar el MVP local.</a:t>
            </a:r>
            <a:endParaRPr lang="en-US" sz="1600" dirty="0"/>
          </a:p>
        </p:txBody>
      </p:sp>
      <p:sp>
        <p:nvSpPr>
          <p:cNvPr id="6" name="Shape 4"/>
          <p:cNvSpPr/>
          <p:nvPr/>
        </p:nvSpPr>
        <p:spPr>
          <a:xfrm>
            <a:off x="4405809" y="1522016"/>
            <a:ext cx="3380284" cy="1804591"/>
          </a:xfrm>
          <a:prstGeom prst="roundRect">
            <a:avLst>
              <a:gd name="adj" fmla="val 5454"/>
            </a:avLst>
          </a:prstGeom>
          <a:solidFill>
            <a:srgbClr val="22305A"/>
          </a:solidFill>
          <a:ln w="6350">
            <a:solidFill>
              <a:srgbClr val="34457A"/>
            </a:solidFill>
            <a:prstDash val="solid"/>
          </a:ln>
        </p:spPr>
      </p:sp>
      <p:sp>
        <p:nvSpPr>
          <p:cNvPr id="7" name="Text 5"/>
          <p:cNvSpPr/>
          <p:nvPr/>
        </p:nvSpPr>
        <p:spPr>
          <a:xfrm>
            <a:off x="4662984" y="1779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Cuentas y 2FA</a:t>
            </a:r>
            <a:endParaRPr lang="en-US" sz="2200" dirty="0"/>
          </a:p>
        </p:txBody>
      </p:sp>
      <p:sp>
        <p:nvSpPr>
          <p:cNvPr id="8" name="Text 6"/>
          <p:cNvSpPr/>
          <p:nvPr/>
        </p:nvSpPr>
        <p:spPr>
          <a:xfrm>
            <a:off x="4662984" y="22160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Registro de usuarios y verificación en dos pasos por correo.</a:t>
            </a:r>
            <a:endParaRPr lang="en-US" sz="1600" dirty="0"/>
          </a:p>
        </p:txBody>
      </p:sp>
      <p:sp>
        <p:nvSpPr>
          <p:cNvPr id="9" name="Shape 7"/>
          <p:cNvSpPr/>
          <p:nvPr/>
        </p:nvSpPr>
        <p:spPr>
          <a:xfrm>
            <a:off x="7995642" y="1522016"/>
            <a:ext cx="3380284" cy="1804591"/>
          </a:xfrm>
          <a:prstGeom prst="roundRect">
            <a:avLst>
              <a:gd name="adj" fmla="val 5454"/>
            </a:avLst>
          </a:prstGeom>
          <a:solidFill>
            <a:srgbClr val="22305A"/>
          </a:solidFill>
          <a:ln w="6350">
            <a:solidFill>
              <a:srgbClr val="34457A"/>
            </a:solidFill>
            <a:prstDash val="solid"/>
          </a:ln>
        </p:spPr>
      </p:sp>
      <p:sp>
        <p:nvSpPr>
          <p:cNvPr id="10" name="Text 8"/>
          <p:cNvSpPr/>
          <p:nvPr/>
        </p:nvSpPr>
        <p:spPr>
          <a:xfrm>
            <a:off x="8252817" y="1779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Correo y nube</a:t>
            </a:r>
            <a:endParaRPr lang="en-US" sz="2200" dirty="0"/>
          </a:p>
        </p:txBody>
      </p:sp>
      <p:sp>
        <p:nvSpPr>
          <p:cNvPr id="11" name="Text 9"/>
          <p:cNvSpPr/>
          <p:nvPr/>
        </p:nvSpPr>
        <p:spPr>
          <a:xfrm>
            <a:off x="8252817" y="221605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Informe por correo al terminar cada jornada e historial en la nube.</a:t>
            </a:r>
            <a:endParaRPr lang="en-US" sz="1600" dirty="0"/>
          </a:p>
        </p:txBody>
      </p:sp>
      <p:sp>
        <p:nvSpPr>
          <p:cNvPr id="12" name="Shape 10"/>
          <p:cNvSpPr/>
          <p:nvPr/>
        </p:nvSpPr>
        <p:spPr>
          <a:xfrm>
            <a:off x="815975" y="3536156"/>
            <a:ext cx="3380284" cy="1804591"/>
          </a:xfrm>
          <a:prstGeom prst="roundRect">
            <a:avLst>
              <a:gd name="adj" fmla="val 5454"/>
            </a:avLst>
          </a:prstGeom>
          <a:solidFill>
            <a:srgbClr val="22305A"/>
          </a:solidFill>
          <a:ln w="6350">
            <a:solidFill>
              <a:srgbClr val="34457A"/>
            </a:solidFill>
            <a:prstDash val="solid"/>
          </a:ln>
        </p:spPr>
      </p:sp>
      <p:sp>
        <p:nvSpPr>
          <p:cNvPr id="13" name="Text 11"/>
          <p:cNvSpPr/>
          <p:nvPr/>
        </p:nvSpPr>
        <p:spPr>
          <a:xfrm>
            <a:off x="1073150" y="37933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Analítica</a:t>
            </a:r>
            <a:endParaRPr lang="en-US" sz="2200" dirty="0"/>
          </a:p>
        </p:txBody>
      </p:sp>
      <p:sp>
        <p:nvSpPr>
          <p:cNvPr id="14" name="Text 12"/>
          <p:cNvSpPr/>
          <p:nvPr/>
        </p:nvSpPr>
        <p:spPr>
          <a:xfrm>
            <a:off x="1073150" y="423019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Tendencias semanales, índice de cumplimiento y uso inusual.</a:t>
            </a:r>
            <a:endParaRPr lang="en-US" sz="1600" dirty="0"/>
          </a:p>
        </p:txBody>
      </p:sp>
      <p:sp>
        <p:nvSpPr>
          <p:cNvPr id="15" name="Shape 13"/>
          <p:cNvSpPr/>
          <p:nvPr/>
        </p:nvSpPr>
        <p:spPr>
          <a:xfrm>
            <a:off x="4405809" y="3536156"/>
            <a:ext cx="3380284" cy="1804591"/>
          </a:xfrm>
          <a:prstGeom prst="roundRect">
            <a:avLst>
              <a:gd name="adj" fmla="val 5454"/>
            </a:avLst>
          </a:prstGeom>
          <a:solidFill>
            <a:srgbClr val="22305A"/>
          </a:solidFill>
          <a:ln w="6350">
            <a:solidFill>
              <a:srgbClr val="34457A"/>
            </a:solidFill>
            <a:prstDash val="solid"/>
          </a:ln>
        </p:spPr>
      </p:sp>
      <p:sp>
        <p:nvSpPr>
          <p:cNvPr id="16" name="Text 14"/>
          <p:cNvSpPr/>
          <p:nvPr/>
        </p:nvSpPr>
        <p:spPr>
          <a:xfrm>
            <a:off x="4662984" y="37933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PIN más robusto</a:t>
            </a:r>
            <a:endParaRPr lang="en-US" sz="2200" dirty="0"/>
          </a:p>
        </p:txBody>
      </p:sp>
      <p:sp>
        <p:nvSpPr>
          <p:cNvPr id="17" name="Text 15"/>
          <p:cNvSpPr/>
          <p:nvPr/>
        </p:nvSpPr>
        <p:spPr>
          <a:xfrm>
            <a:off x="4662984" y="423019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Pedir el PIN siempre al reabrir, incluso si Android cierra la app.</a:t>
            </a:r>
            <a:endParaRPr lang="en-US" sz="1600" dirty="0"/>
          </a:p>
        </p:txBody>
      </p:sp>
      <p:sp>
        <p:nvSpPr>
          <p:cNvPr id="18" name="Shape 16"/>
          <p:cNvSpPr/>
          <p:nvPr/>
        </p:nvSpPr>
        <p:spPr>
          <a:xfrm>
            <a:off x="7995642" y="3536156"/>
            <a:ext cx="3380284" cy="1804591"/>
          </a:xfrm>
          <a:prstGeom prst="roundRect">
            <a:avLst>
              <a:gd name="adj" fmla="val 5454"/>
            </a:avLst>
          </a:prstGeom>
          <a:solidFill>
            <a:srgbClr val="22305A"/>
          </a:solidFill>
          <a:ln w="6350">
            <a:solidFill>
              <a:srgbClr val="34457A"/>
            </a:solidFill>
            <a:prstDash val="solid"/>
          </a:ln>
        </p:spPr>
      </p:sp>
      <p:sp>
        <p:nvSpPr>
          <p:cNvPr id="19" name="Text 17"/>
          <p:cNvSpPr/>
          <p:nvPr/>
        </p:nvSpPr>
        <p:spPr>
          <a:xfrm>
            <a:off x="8252817" y="37933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96167"/>
                </a:solidFill>
                <a:latin typeface="DM Sans" pitchFamily="34" charset="0"/>
                <a:ea typeface="DM Sans" pitchFamily="34" charset="-122"/>
                <a:cs typeface="DM Sans" pitchFamily="34" charset="-120"/>
              </a:rPr>
              <a:t>Pausa temporal</a:t>
            </a:r>
            <a:endParaRPr lang="en-US" sz="2200" dirty="0"/>
          </a:p>
        </p:txBody>
      </p:sp>
      <p:sp>
        <p:nvSpPr>
          <p:cNvPr id="20" name="Text 18"/>
          <p:cNvSpPr/>
          <p:nvPr/>
        </p:nvSpPr>
        <p:spPr>
          <a:xfrm>
            <a:off x="8252817" y="4230191"/>
            <a:ext cx="295191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8E2"/>
                </a:solidFill>
                <a:latin typeface="DM Sans" pitchFamily="34" charset="0"/>
                <a:ea typeface="DM Sans" pitchFamily="34" charset="-122"/>
                <a:cs typeface="DM Sans" pitchFamily="34" charset="-120"/>
              </a:rPr>
              <a:t>Pausar la supervisión por un tiempo, en análisis con el equipo.</a:t>
            </a:r>
            <a:endParaRPr lang="en-US" sz="1600" dirty="0"/>
          </a:p>
        </p:txBody>
      </p:sp>
      <p:sp>
        <p:nvSpPr>
          <p:cNvPr id="21" name="Text 19"/>
          <p:cNvSpPr/>
          <p:nvPr/>
        </p:nvSpPr>
        <p:spPr>
          <a:xfrm>
            <a:off x="812800" y="554712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6167"/>
                </a:solidFill>
                <a:latin typeface="DM Sans" pitchFamily="34" charset="0"/>
                <a:ea typeface="DM Sans" pitchFamily="34" charset="-122"/>
                <a:cs typeface="DM Sans" pitchFamily="34" charset="-120"/>
              </a:rPr>
              <a:t>Meta: 100 % del alcance definido, el 20 de noviembre (semana 15).</a:t>
            </a:r>
            <a:endParaRPr lang="en-US" sz="1600" dirty="0"/>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4"/>
                </a:solidFill>
                <a:latin typeface="DM Sans" pitchFamily="34" charset="0"/>
                <a:ea typeface="DM Sans" pitchFamily="34" charset="-122"/>
                <a:cs typeface="DM Sans" pitchFamily="34" charset="-120"/>
              </a:rPr>
              <a:t>NEXO · Avance semana 10</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4"/>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03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203E"/>
              </a:gs>
              <a:gs pos="100000">
                <a:srgbClr val="065A82"/>
              </a:gs>
            </a:gsLst>
            <a:lin ang="2700000" scaled="0"/>
          </a:gradFill>
          <a:ln/>
        </p:spPr>
      </p:sp>
      <p:sp>
        <p:nvSpPr>
          <p:cNvPr id="3" name="Text 1"/>
          <p:cNvSpPr/>
          <p:nvPr>
            <p:ph type="title"/>
          </p:nvPr>
        </p:nvSpPr>
        <p:spPr>
          <a:xfrm>
            <a:off x="812800" y="238254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EAF2F6"/>
                </a:solidFill>
                <a:latin typeface="EB Garamond" pitchFamily="18" charset="0"/>
                <a:ea typeface="EB Garamond" pitchFamily="18" charset="-122"/>
                <a:cs typeface="EB Garamond" pitchFamily="18" charset="-120"/>
              </a:rPr>
              <a:t>Gracias</a:t>
            </a:r>
            <a:endParaRPr lang="en-US" sz="6000" dirty="0"/>
          </a:p>
        </p:txBody>
      </p:sp>
      <p:pic>
        <p:nvPicPr>
          <p:cNvPr id="4" name="Image 0" descr="line">    </p:cNvPr>
          <p:cNvPicPr>
            <a:picLocks noChangeAspect="1"/>
          </p:cNvPicPr>
          <p:nvPr/>
        </p:nvPicPr>
        <p:blipFill>
          <a:blip r:embed="rId1"/>
          <a:srcRect l="0" r="0" t="0" b="0"/>
          <a:stretch/>
        </p:blipFill>
        <p:spPr>
          <a:xfrm>
            <a:off x="812800" y="3423940"/>
            <a:ext cx="1016000" cy="25400"/>
          </a:xfrm>
          <a:prstGeom prst="rect">
            <a:avLst/>
          </a:prstGeom>
        </p:spPr>
      </p:pic>
      <p:sp>
        <p:nvSpPr>
          <p:cNvPr id="5" name="Text 2"/>
          <p:cNvSpPr/>
          <p:nvPr/>
        </p:nvSpPr>
        <p:spPr>
          <a:xfrm>
            <a:off x="812800" y="365254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EAF2F6"/>
                </a:solidFill>
                <a:latin typeface="DM Sans" pitchFamily="34" charset="0"/>
                <a:ea typeface="DM Sans" pitchFamily="34" charset="-122"/>
                <a:cs typeface="DM Sans" pitchFamily="34" charset="-120"/>
              </a:rPr>
              <a:t>NEXO: supervisión con contexto, sin invadir la privacidad.</a:t>
            </a:r>
            <a:endParaRPr lang="en-US" sz="2200" dirty="0"/>
          </a:p>
        </p:txBody>
      </p:sp>
      <p:sp>
        <p:nvSpPr>
          <p:cNvPr id="6" name="Text 3"/>
          <p:cNvSpPr/>
          <p:nvPr/>
        </p:nvSpPr>
        <p:spPr>
          <a:xfrm>
            <a:off x="812800" y="4191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96167"/>
                </a:solidFill>
                <a:latin typeface="DM Sans" pitchFamily="34" charset="0"/>
                <a:ea typeface="DM Sans" pitchFamily="34" charset="-122"/>
                <a:cs typeface="DM Sans" pitchFamily="34" charset="-120"/>
              </a:rPr>
              <a:t>¿Preguntas?</a:t>
            </a:r>
            <a:endParaRPr lang="en-US" sz="1600" dirty="0"/>
          </a:p>
        </p:txBody>
      </p:sp>
    </p:spTree>
  </p:cSld>
  <p:clrMapOvr>
    <a:masterClrMapping/>
  </p:clrMapOvr>
</p:sld>
</file>

<file path=ppt/theme/theme1.xml><?xml version="1.0" encoding="utf-8"?>
<a:theme xmlns:a="http://schemas.openxmlformats.org/drawingml/2006/main" name="NEXO – Avance Semana 10">
  <a:themeElements>
    <a:clrScheme name="NEXO – Avance Semana 10">
      <a:dk1>
        <a:srgbClr val="17203E"/>
      </a:dk1>
      <a:lt1>
        <a:srgbClr val="EAF2F6"/>
      </a:lt1>
      <a:dk2>
        <a:srgbClr val="4C556C"/>
      </a:dk2>
      <a:lt2>
        <a:srgbClr val="D5DDE4"/>
      </a:lt2>
      <a:accent1>
        <a:srgbClr val="065A82"/>
      </a:accent1>
      <a:accent2>
        <a:srgbClr val="22305A"/>
      </a:accent2>
      <a:accent3>
        <a:srgbClr val="F96167"/>
      </a:accent3>
      <a:accent4>
        <a:srgbClr val="6FCF97"/>
      </a:accent4>
      <a:accent5>
        <a:srgbClr val="4F5D6B"/>
      </a:accent5>
      <a:accent6>
        <a:srgbClr val="C9D8E2"/>
      </a:accent6>
      <a:hlink>
        <a:srgbClr val="0563C1"/>
      </a:hlink>
      <a:folHlink>
        <a:srgbClr val="954F72"/>
      </a:folHlink>
    </a:clrScheme>
    <a:fontScheme name="NEXO – Avance Semana 10">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 – Avance Semana 10</dc:title>
  <dc:subject/>
  <dc:creator/>
  <cp:lastModifiedBy/>
  <cp:revision>1</cp:revision>
  <dcterms:created xsi:type="dcterms:W3CDTF">2026-10-16T04:28:35Z</dcterms:created>
  <dcterms:modified xsi:type="dcterms:W3CDTF">2026-10-16T04:28:35Z</dcterms:modified>
</cp:coreProperties>
</file>