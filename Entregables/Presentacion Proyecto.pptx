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94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47229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.png"/><Relationship Id="rId5" Type="http://schemas.openxmlformats.org/officeDocument/2006/relationships/image" Target="../media/image15.png"/><Relationship Id="rId10" Type="http://schemas.openxmlformats.org/officeDocument/2006/relationships/image" Target="../media/image17.png"/><Relationship Id="rId4" Type="http://schemas.openxmlformats.org/officeDocument/2006/relationships/image" Target="../media/image14.png"/><Relationship Id="rId9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645920"/>
            <a:ext cx="4572000" cy="45720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367528" y="1417320"/>
            <a:ext cx="1463040" cy="1463040"/>
          </a:xfrm>
          <a:prstGeom prst="ellipse">
            <a:avLst/>
          </a:prstGeom>
          <a:solidFill>
            <a:srgbClr val="065A82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5" name="Image 0" descr="/home/claude/nexo_ppt/icons/in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3288" y="1783080"/>
            <a:ext cx="731520" cy="7315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2880360"/>
            <a:ext cx="1219169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NEXO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0" y="3794760"/>
            <a:ext cx="1219169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Supervisión digital parental por jornadas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4709160" y="4480560"/>
            <a:ext cx="2743200" cy="0"/>
          </a:xfrm>
          <a:prstGeom prst="line">
            <a:avLst/>
          </a:prstGeom>
          <a:noFill/>
          <a:ln w="1905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0" y="470916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APT · Ingeniería en Informática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0" y="507492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Matias Esquerra Moya  ·  Cristopher Paredes  ·  Martin Muñoz  ·  Cristóbal Monsalves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0" y="6263640"/>
            <a:ext cx="121916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— Definición de Proyecto</a:t>
            </a:r>
            <a:endParaRPr lang="en-US" sz="1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47040B3-8F95-47A7-8CE5-299B25AFD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479" y="0"/>
            <a:ext cx="3619216" cy="88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nexo_ppt/icons/targ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9050">
            <a:solidFill>
              <a:srgbClr val="E8F1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60020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E8F1F5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60020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325880" y="1600200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2313432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E8F1F5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2313432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325880" y="2313432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3026664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E8F1F5"/>
          </a:solidFill>
          <a:ln/>
        </p:spPr>
      </p:sp>
      <p:sp>
        <p:nvSpPr>
          <p:cNvPr id="13" name="Text 10"/>
          <p:cNvSpPr/>
          <p:nvPr/>
        </p:nvSpPr>
        <p:spPr>
          <a:xfrm>
            <a:off x="777240" y="3026664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325880" y="302666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" y="3739896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E8F1F5"/>
          </a:solidFill>
          <a:ln/>
        </p:spPr>
      </p:sp>
      <p:sp>
        <p:nvSpPr>
          <p:cNvPr id="16" name="Text 13"/>
          <p:cNvSpPr/>
          <p:nvPr/>
        </p:nvSpPr>
        <p:spPr>
          <a:xfrm>
            <a:off x="777240" y="373989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325880" y="3739896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0080" y="4453128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E8F1F5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4453128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1325880" y="4453128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Metodología, Plan y Roles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640080" y="516636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E8F1F5"/>
          </a:solidFill>
          <a:ln/>
        </p:spPr>
      </p:sp>
      <p:sp>
        <p:nvSpPr>
          <p:cNvPr id="22" name="Text 19"/>
          <p:cNvSpPr/>
          <p:nvPr/>
        </p:nvSpPr>
        <p:spPr>
          <a:xfrm>
            <a:off x="777240" y="516636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325880" y="5166360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Tecnológico y Arquitectura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6309360" y="160020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E8F1F5"/>
          </a:solidFill>
          <a:ln/>
        </p:spPr>
      </p:sp>
      <p:sp>
        <p:nvSpPr>
          <p:cNvPr id="25" name="Text 22"/>
          <p:cNvSpPr/>
          <p:nvPr/>
        </p:nvSpPr>
        <p:spPr>
          <a:xfrm>
            <a:off x="6446520" y="160020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800" dirty="0"/>
          </a:p>
        </p:txBody>
      </p:sp>
      <p:sp>
        <p:nvSpPr>
          <p:cNvPr id="26" name="Text 23"/>
          <p:cNvSpPr/>
          <p:nvPr/>
        </p:nvSpPr>
        <p:spPr>
          <a:xfrm>
            <a:off x="6995160" y="1600200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6309360" y="2313432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E8F1F5"/>
          </a:solidFill>
          <a:ln/>
        </p:spPr>
      </p:sp>
      <p:sp>
        <p:nvSpPr>
          <p:cNvPr id="28" name="Text 25"/>
          <p:cNvSpPr/>
          <p:nvPr/>
        </p:nvSpPr>
        <p:spPr>
          <a:xfrm>
            <a:off x="6446520" y="2313432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800" dirty="0"/>
          </a:p>
        </p:txBody>
      </p:sp>
      <p:sp>
        <p:nvSpPr>
          <p:cNvPr id="29" name="Text 26"/>
          <p:cNvSpPr/>
          <p:nvPr/>
        </p:nvSpPr>
        <p:spPr>
          <a:xfrm>
            <a:off x="6995160" y="2313432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309360" y="3026664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E8F1F5"/>
          </a:solidFill>
          <a:ln/>
        </p:spPr>
      </p:sp>
      <p:sp>
        <p:nvSpPr>
          <p:cNvPr id="31" name="Text 28"/>
          <p:cNvSpPr/>
          <p:nvPr/>
        </p:nvSpPr>
        <p:spPr>
          <a:xfrm>
            <a:off x="6446520" y="3026664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800" dirty="0"/>
          </a:p>
        </p:txBody>
      </p:sp>
      <p:sp>
        <p:nvSpPr>
          <p:cNvPr id="32" name="Text 29"/>
          <p:cNvSpPr/>
          <p:nvPr/>
        </p:nvSpPr>
        <p:spPr>
          <a:xfrm>
            <a:off x="6995160" y="3026664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6309360" y="3739896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E8F1F5"/>
          </a:solidFill>
          <a:ln/>
        </p:spPr>
      </p:sp>
      <p:sp>
        <p:nvSpPr>
          <p:cNvPr id="34" name="Text 31"/>
          <p:cNvSpPr/>
          <p:nvPr/>
        </p:nvSpPr>
        <p:spPr>
          <a:xfrm>
            <a:off x="6446520" y="3739896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6995160" y="3739896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309360" y="4453128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E8F1F5"/>
          </a:solidFill>
          <a:ln/>
        </p:spPr>
      </p:sp>
      <p:sp>
        <p:nvSpPr>
          <p:cNvPr id="37" name="Text 34"/>
          <p:cNvSpPr/>
          <p:nvPr/>
        </p:nvSpPr>
        <p:spPr>
          <a:xfrm>
            <a:off x="6446520" y="4453128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800" dirty="0"/>
          </a:p>
        </p:txBody>
      </p:sp>
      <p:sp>
        <p:nvSpPr>
          <p:cNvPr id="38" name="Text 35"/>
          <p:cNvSpPr/>
          <p:nvPr/>
        </p:nvSpPr>
        <p:spPr>
          <a:xfrm>
            <a:off x="6995160" y="4453128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6309360" y="5166360"/>
            <a:ext cx="5212080" cy="566928"/>
          </a:xfrm>
          <a:prstGeom prst="roundRect">
            <a:avLst>
              <a:gd name="adj" fmla="val 12903"/>
            </a:avLst>
          </a:prstGeom>
          <a:solidFill>
            <a:srgbClr val="E8F1F5"/>
          </a:solidFill>
          <a:ln/>
        </p:spPr>
      </p:sp>
      <p:sp>
        <p:nvSpPr>
          <p:cNvPr id="40" name="Text 37"/>
          <p:cNvSpPr/>
          <p:nvPr/>
        </p:nvSpPr>
        <p:spPr>
          <a:xfrm>
            <a:off x="6446520" y="5166360"/>
            <a:ext cx="5486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800" dirty="0"/>
          </a:p>
        </p:txBody>
      </p:sp>
      <p:sp>
        <p:nvSpPr>
          <p:cNvPr id="41" name="Text 38"/>
          <p:cNvSpPr/>
          <p:nvPr/>
        </p:nvSpPr>
        <p:spPr>
          <a:xfrm>
            <a:off x="6995160" y="5166360"/>
            <a:ext cx="43891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 — Proyecto APT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pic>
        <p:nvPicPr>
          <p:cNvPr id="44" name="Picture 2">
            <a:extLst>
              <a:ext uri="{FF2B5EF4-FFF2-40B4-BE49-F238E27FC236}">
                <a16:creationId xmlns:a16="http://schemas.microsoft.com/office/drawing/2014/main" id="{1AA5CE9C-5A9A-4998-BECA-FE5D692BEE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479" y="0"/>
            <a:ext cx="3619216" cy="88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nexo_ppt/icons/intr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9050">
            <a:solidFill>
              <a:srgbClr val="E8F1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554480"/>
            <a:ext cx="6492240" cy="4480560"/>
          </a:xfrm>
          <a:prstGeom prst="roundRect">
            <a:avLst>
              <a:gd name="adj" fmla="val 2041"/>
            </a:avLst>
          </a:prstGeom>
          <a:solidFill>
            <a:srgbClr val="E8F1F5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82880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</a:t>
            </a: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una aplicación Android de supervisión digital parental que permite a un apoderado configurar </a:t>
            </a: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jornadas</a:t>
            </a: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tiempo (ej. jornada escolar) y obtener un informe claro de qué aplicaciones usó un menor, durante cuánto tiempo y en qué categoría.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657600"/>
            <a:ext cx="59436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únicamente mecanismos oficiales de Android (UsageStatsManager)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lee mensajes, contraseñas ni contenido privado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acotado: contextos/jornadas, no control total del dispositivo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7406640" y="1554480"/>
            <a:ext cx="4160520" cy="4480560"/>
          </a:xfrm>
          <a:prstGeom prst="roundRect">
            <a:avLst>
              <a:gd name="adj" fmla="val 2198"/>
            </a:avLst>
          </a:prstGeom>
          <a:solidFill>
            <a:srgbClr val="065A82"/>
          </a:solidFill>
          <a:ln/>
        </p:spPr>
      </p:sp>
      <p:pic>
        <p:nvPicPr>
          <p:cNvPr id="10" name="Image 1" descr="/home/claude/nexo_ppt/icons/clo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52560" y="1828800"/>
            <a:ext cx="822960" cy="8229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89520" y="2788920"/>
            <a:ext cx="3794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08:00 — 14:00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7589520" y="324612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escolar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7955280" y="3794760"/>
            <a:ext cx="3063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72400" y="4023360"/>
            <a:ext cx="34290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uso principal y único de la primera versión del proyecto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 — Proyecto APT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13705D2C-3241-4488-85A0-D5868C997D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479" y="0"/>
            <a:ext cx="3619216" cy="88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nexo_ppt/icons/context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9050">
            <a:solidFill>
              <a:srgbClr val="E8F1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teléfono móvil es hoy parte cotidiana de la vida escolar de niños y adolescentes, con usos muy distintos durante la jornada de clases: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4884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E8F1F5"/>
          </a:solidFill>
          <a:ln/>
        </p:spPr>
      </p:sp>
      <p:sp>
        <p:nvSpPr>
          <p:cNvPr id="8" name="Shape 5"/>
          <p:cNvSpPr/>
          <p:nvPr/>
        </p:nvSpPr>
        <p:spPr>
          <a:xfrm>
            <a:off x="1577340" y="237744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9" name="Image 1" descr="/home/claude/nexo_ppt/icons/competenci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3644" y="252374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31520" y="31546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Educativo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3383280" y="214884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E8F1F5"/>
          </a:solidFill>
          <a:ln/>
        </p:spPr>
      </p:sp>
      <p:sp>
        <p:nvSpPr>
          <p:cNvPr id="12" name="Shape 8"/>
          <p:cNvSpPr/>
          <p:nvPr/>
        </p:nvSpPr>
        <p:spPr>
          <a:xfrm>
            <a:off x="4320540" y="23774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2" descr="/home/claude/nexo_ppt/icons/whatsap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6844" y="252374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474720" y="31546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126480" y="214884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E8F1F5"/>
          </a:solidFill>
          <a:ln/>
        </p:spPr>
      </p:sp>
      <p:sp>
        <p:nvSpPr>
          <p:cNvPr id="16" name="Shape 11"/>
          <p:cNvSpPr/>
          <p:nvPr/>
        </p:nvSpPr>
        <p:spPr>
          <a:xfrm>
            <a:off x="7063740" y="2377440"/>
            <a:ext cx="640080" cy="640080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17" name="Image 3" descr="/home/claude/nexo_ppt/icons/youtub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0044" y="2523744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217920" y="31546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Entretenimiento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8869680" y="2148840"/>
            <a:ext cx="2514600" cy="1737360"/>
          </a:xfrm>
          <a:prstGeom prst="roundRect">
            <a:avLst>
              <a:gd name="adj" fmla="val 5263"/>
            </a:avLst>
          </a:prstGeom>
          <a:solidFill>
            <a:srgbClr val="E8F1F5"/>
          </a:solidFill>
          <a:ln/>
        </p:spPr>
      </p:sp>
      <p:sp>
        <p:nvSpPr>
          <p:cNvPr id="20" name="Shape 14"/>
          <p:cNvSpPr/>
          <p:nvPr/>
        </p:nvSpPr>
        <p:spPr>
          <a:xfrm>
            <a:off x="9806940" y="2377440"/>
            <a:ext cx="640080" cy="64008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21" name="Image 4" descr="/home/claude/nexo_ppt/icons/pho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53244" y="2523744"/>
            <a:ext cx="347472" cy="34747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961120" y="3154680"/>
            <a:ext cx="23317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sociales / Juegos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640080" y="4160520"/>
            <a:ext cx="10881360" cy="1874520"/>
          </a:xfrm>
          <a:prstGeom prst="roundRect">
            <a:avLst>
              <a:gd name="adj" fmla="val 4878"/>
            </a:avLst>
          </a:prstGeom>
          <a:solidFill>
            <a:srgbClr val="21295C"/>
          </a:solidFill>
          <a:ln/>
        </p:spPr>
      </p:sp>
      <p:sp>
        <p:nvSpPr>
          <p:cNvPr id="24" name="Text 17"/>
          <p:cNvSpPr/>
          <p:nvPr/>
        </p:nvSpPr>
        <p:spPr>
          <a:xfrm>
            <a:off x="914400" y="434340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Soluciones existentes (Google Family Link, Qustodio)</a:t>
            </a:r>
            <a:endParaRPr lang="en-US" sz="1500" dirty="0"/>
          </a:p>
        </p:txBody>
      </p:sp>
      <p:sp>
        <p:nvSpPr>
          <p:cNvPr id="25" name="Text 18"/>
          <p:cNvSpPr/>
          <p:nvPr/>
        </p:nvSpPr>
        <p:spPr>
          <a:xfrm>
            <a:off x="914400" y="4709160"/>
            <a:ext cx="103327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Ofrecen control amplio y permanente: bloqueo de apps, ubicación GPS, navegación web y administración completa del dispositivo durante todo el día — sin un enfoque específico en períodos acotados como el horario de clases.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 — Proyecto APT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128D74EB-9EB0-4238-B3F4-856411E04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479" y="0"/>
            <a:ext cx="3619216" cy="88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" name="Image 0" descr="/home/claude/nexo_ppt/icons/problem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Problemática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9050">
            <a:solidFill>
              <a:srgbClr val="E8F1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554480"/>
            <a:ext cx="5120640" cy="4480560"/>
          </a:xfrm>
          <a:prstGeom prst="roundRect">
            <a:avLst>
              <a:gd name="adj" fmla="val 2041"/>
            </a:avLst>
          </a:prstGeom>
          <a:solidFill>
            <a:srgbClr val="E8F1F5"/>
          </a:solidFill>
          <a:ln/>
        </p:spPr>
      </p:sp>
      <p:sp>
        <p:nvSpPr>
          <p:cNvPr id="7" name="Text 4"/>
          <p:cNvSpPr/>
          <p:nvPr/>
        </p:nvSpPr>
        <p:spPr>
          <a:xfrm>
            <a:off x="914400" y="178308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Preguntas sin respuesta simple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233172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97280" y="233172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“¿Mi hijo utilizó el teléfono durante la jornada escolar?”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914400" y="342900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342900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“¿Qué aplicaciones utilizó?”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14400" y="4526280"/>
            <a:ext cx="45720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97280" y="4526280"/>
            <a:ext cx="4206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“¿Cuánto tiempo usó entretenimiento durante ese período?”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080760" y="1554480"/>
            <a:ext cx="5486400" cy="4480560"/>
          </a:xfrm>
          <a:prstGeom prst="roundRect">
            <a:avLst>
              <a:gd name="adj" fmla="val 2041"/>
            </a:avLst>
          </a:prstGeom>
          <a:solidFill>
            <a:srgbClr val="065A82"/>
          </a:solidFill>
          <a:ln/>
        </p:spPr>
      </p:sp>
      <p:sp>
        <p:nvSpPr>
          <p:cNvPr id="15" name="Text 12"/>
          <p:cNvSpPr/>
          <p:nvPr/>
        </p:nvSpPr>
        <p:spPr>
          <a:xfrm>
            <a:off x="6355080" y="178308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vacío específico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355080" y="2331720"/>
            <a:ext cx="49377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Padres y apoderados </a:t>
            </a:r>
            <a:r>
              <a:rPr lang="en-US" sz="135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carecen de una forma simple y específica</a:t>
            </a:r>
            <a:r>
              <a:rPr lang="en-US" sz="13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conocer el uso del teléfono durante un período particular. Las herramientas actuales son </a:t>
            </a:r>
            <a:r>
              <a:rPr lang="en-US" sz="1350" b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demasiado amplias</a:t>
            </a:r>
            <a:r>
              <a:rPr lang="en-US" sz="13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invasivas para responder algo tan puntual como el comportamiento digital durante el horario de clases.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6355080" y="4343400"/>
            <a:ext cx="493776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355080" y="45262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Contexto: hogares chilenos con hijos en edad escolar con teléfono propio.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 — Proyecto APT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pic>
        <p:nvPicPr>
          <p:cNvPr id="21" name="Picture 2">
            <a:extLst>
              <a:ext uri="{FF2B5EF4-FFF2-40B4-BE49-F238E27FC236}">
                <a16:creationId xmlns:a16="http://schemas.microsoft.com/office/drawing/2014/main" id="{801F8FD8-1663-44A9-9CFD-53044668E2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479" y="0"/>
            <a:ext cx="3619216" cy="88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/home/claude/nexo_ppt/icons/solu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9050">
            <a:solidFill>
              <a:srgbClr val="E8F1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41732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Transformar la actividad digital del teléfono durante una jornada específica en </a:t>
            </a: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clara y comprensible</a:t>
            </a:r>
            <a:r>
              <a:rPr lang="en-US" sz="15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para el apoderado — sin vigilancia invasiva.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286000"/>
            <a:ext cx="4846320" cy="3794760"/>
          </a:xfrm>
          <a:prstGeom prst="roundRect">
            <a:avLst>
              <a:gd name="adj" fmla="val 2892"/>
            </a:avLst>
          </a:prstGeom>
          <a:solidFill>
            <a:srgbClr val="21295C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4871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INFORME DE JORNADA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283464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 – 14:00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3291840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657600" y="3291840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 min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005840" y="3675888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3657600" y="3675888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min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005840" y="4059936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657600" y="4059936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005840" y="4443984"/>
            <a:ext cx="27432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3657600" y="4443984"/>
            <a:ext cx="1463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min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14400" y="4892040"/>
            <a:ext cx="4297680" cy="0"/>
          </a:xfrm>
          <a:prstGeom prst="line">
            <a:avLst/>
          </a:prstGeom>
          <a:noFill/>
          <a:ln w="9525">
            <a:solidFill>
              <a:srgbClr val="1C7293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60120" y="5084064"/>
            <a:ext cx="128016" cy="12801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0" name="Text 17"/>
          <p:cNvSpPr/>
          <p:nvPr/>
        </p:nvSpPr>
        <p:spPr>
          <a:xfrm>
            <a:off x="1188720" y="502920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3657600" y="5029200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min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960120" y="5413248"/>
            <a:ext cx="128016" cy="12801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3" name="Text 20"/>
          <p:cNvSpPr/>
          <p:nvPr/>
        </p:nvSpPr>
        <p:spPr>
          <a:xfrm>
            <a:off x="1188720" y="5358384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3657600" y="5358384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min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960120" y="5742432"/>
            <a:ext cx="128016" cy="128016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26" name="Text 23"/>
          <p:cNvSpPr/>
          <p:nvPr/>
        </p:nvSpPr>
        <p:spPr>
          <a:xfrm>
            <a:off x="1188720" y="5687568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Entretenimiento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3657600" y="5687568"/>
            <a:ext cx="1463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min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715000" y="2286000"/>
            <a:ext cx="5852160" cy="1143000"/>
          </a:xfrm>
          <a:prstGeom prst="roundRect">
            <a:avLst>
              <a:gd name="adj" fmla="val 8000"/>
            </a:avLst>
          </a:prstGeom>
          <a:solidFill>
            <a:srgbClr val="E8F1F5"/>
          </a:solidFill>
          <a:ln/>
        </p:spPr>
      </p:sp>
      <p:sp>
        <p:nvSpPr>
          <p:cNvPr id="29" name="Shape 26"/>
          <p:cNvSpPr/>
          <p:nvPr/>
        </p:nvSpPr>
        <p:spPr>
          <a:xfrm>
            <a:off x="5897880" y="2542032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0" name="Text 27"/>
          <p:cNvSpPr/>
          <p:nvPr/>
        </p:nvSpPr>
        <p:spPr>
          <a:xfrm>
            <a:off x="5897880" y="25420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583680" y="239572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Supervisión por jornadas</a:t>
            </a:r>
            <a:endParaRPr lang="en-US" sz="1400" dirty="0"/>
          </a:p>
        </p:txBody>
      </p:sp>
      <p:sp>
        <p:nvSpPr>
          <p:cNvPr id="32" name="Text 29"/>
          <p:cNvSpPr/>
          <p:nvPr/>
        </p:nvSpPr>
        <p:spPr>
          <a:xfrm>
            <a:off x="6583680" y="27432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Períodos configurables (escolar, estudio, nocturno) en vez de control 24/7.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5715000" y="3584448"/>
            <a:ext cx="5852160" cy="1143000"/>
          </a:xfrm>
          <a:prstGeom prst="roundRect">
            <a:avLst>
              <a:gd name="adj" fmla="val 8000"/>
            </a:avLst>
          </a:prstGeom>
          <a:solidFill>
            <a:srgbClr val="E8F1F5"/>
          </a:solidFill>
          <a:ln/>
        </p:spPr>
      </p:sp>
      <p:sp>
        <p:nvSpPr>
          <p:cNvPr id="34" name="Shape 31"/>
          <p:cNvSpPr/>
          <p:nvPr/>
        </p:nvSpPr>
        <p:spPr>
          <a:xfrm>
            <a:off x="5897880" y="384048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5" name="Text 32"/>
          <p:cNvSpPr/>
          <p:nvPr/>
        </p:nvSpPr>
        <p:spPr>
          <a:xfrm>
            <a:off x="5897880" y="3840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6583680" y="3694176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oficiales de Android</a:t>
            </a:r>
            <a:endParaRPr lang="en-US" sz="1400" dirty="0"/>
          </a:p>
        </p:txBody>
      </p:sp>
      <p:sp>
        <p:nvSpPr>
          <p:cNvPr id="37" name="Text 34"/>
          <p:cNvSpPr/>
          <p:nvPr/>
        </p:nvSpPr>
        <p:spPr>
          <a:xfrm>
            <a:off x="6583680" y="4041648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UsageStatsManager: solo apps, tiempo y horario — nunca contenido privado.</a:t>
            </a:r>
            <a:endParaRPr lang="en-US" sz="1150" dirty="0"/>
          </a:p>
        </p:txBody>
      </p:sp>
      <p:sp>
        <p:nvSpPr>
          <p:cNvPr id="38" name="Shape 35"/>
          <p:cNvSpPr/>
          <p:nvPr/>
        </p:nvSpPr>
        <p:spPr>
          <a:xfrm>
            <a:off x="5715000" y="4882896"/>
            <a:ext cx="5852160" cy="1143000"/>
          </a:xfrm>
          <a:prstGeom prst="roundRect">
            <a:avLst>
              <a:gd name="adj" fmla="val 8000"/>
            </a:avLst>
          </a:prstGeom>
          <a:solidFill>
            <a:srgbClr val="E8F1F5"/>
          </a:solidFill>
          <a:ln/>
        </p:spPr>
      </p:sp>
      <p:sp>
        <p:nvSpPr>
          <p:cNvPr id="39" name="Shape 36"/>
          <p:cNvSpPr/>
          <p:nvPr/>
        </p:nvSpPr>
        <p:spPr>
          <a:xfrm>
            <a:off x="5897880" y="5138928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0" name="Text 37"/>
          <p:cNvSpPr/>
          <p:nvPr/>
        </p:nvSpPr>
        <p:spPr>
          <a:xfrm>
            <a:off x="5897880" y="5138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583680" y="4992624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 con contexto</a:t>
            </a:r>
            <a:endParaRPr lang="en-US" sz="1400" dirty="0"/>
          </a:p>
        </p:txBody>
      </p:sp>
      <p:sp>
        <p:nvSpPr>
          <p:cNvPr id="42" name="Text 39"/>
          <p:cNvSpPr/>
          <p:nvPr/>
        </p:nvSpPr>
        <p:spPr>
          <a:xfrm>
            <a:off x="6583680" y="5340096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Categorización automática y resumen comprensible, no solo números.</a:t>
            </a:r>
            <a:endParaRPr lang="en-US" sz="1150" dirty="0"/>
          </a:p>
        </p:txBody>
      </p:sp>
      <p:sp>
        <p:nvSpPr>
          <p:cNvPr id="43" name="Text 4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 — Proyecto APT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pic>
        <p:nvPicPr>
          <p:cNvPr id="45" name="Picture 2">
            <a:extLst>
              <a:ext uri="{FF2B5EF4-FFF2-40B4-BE49-F238E27FC236}">
                <a16:creationId xmlns:a16="http://schemas.microsoft.com/office/drawing/2014/main" id="{BE3D6A8C-CA04-4B00-8E54-538EE5F76D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479" y="0"/>
            <a:ext cx="3619216" cy="88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nexo_ppt/icons/metodolog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Metodología, Plan y Roles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9050">
            <a:solidFill>
              <a:srgbClr val="E8F1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incremental e iterativa — MVP primero, funcionalidades avanzadas después.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640080" y="18745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E8F1F5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198424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3317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Definición y validación del proyecto (este documento)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069080" y="23317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4297680" y="18745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12" name="Text 9"/>
          <p:cNvSpPr/>
          <p:nvPr/>
        </p:nvSpPr>
        <p:spPr>
          <a:xfrm>
            <a:off x="4480560" y="198424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480560" y="23317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incremental del MVP, comenzando por la prueba de factibilidad de UsageStatsManager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7726680" y="233172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7955280" y="1874520"/>
            <a:ext cx="3429000" cy="1417320"/>
          </a:xfrm>
          <a:prstGeom prst="roundRect">
            <a:avLst>
              <a:gd name="adj" fmla="val 6452"/>
            </a:avLst>
          </a:prstGeom>
          <a:solidFill>
            <a:srgbClr val="E8F1F5"/>
          </a:solidFill>
          <a:ln/>
        </p:spPr>
      </p:sp>
      <p:sp>
        <p:nvSpPr>
          <p:cNvPr id="16" name="Text 13"/>
          <p:cNvSpPr/>
          <p:nvPr/>
        </p:nvSpPr>
        <p:spPr>
          <a:xfrm>
            <a:off x="8138160" y="1984248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Fase 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138160" y="233172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finales, ajustes y presentación / defensa del proyecto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40080" y="3611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del equipo (4 integrantes)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40080" y="40690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8F1F5"/>
          </a:solidFill>
          <a:ln/>
        </p:spPr>
      </p:sp>
      <p:sp>
        <p:nvSpPr>
          <p:cNvPr id="20" name="Shape 17"/>
          <p:cNvSpPr/>
          <p:nvPr/>
        </p:nvSpPr>
        <p:spPr>
          <a:xfrm>
            <a:off x="1668780" y="4270248"/>
            <a:ext cx="548640" cy="5486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1" name="Text 18"/>
          <p:cNvSpPr/>
          <p:nvPr/>
        </p:nvSpPr>
        <p:spPr>
          <a:xfrm>
            <a:off x="1668780" y="4270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UA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31520" y="49103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Android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731520" y="52120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Matias Esquerra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777240" y="55138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Compose, pantallas, navegación, UX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429000" y="40690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8F1F5"/>
          </a:solidFill>
          <a:ln/>
        </p:spPr>
      </p:sp>
      <p:sp>
        <p:nvSpPr>
          <p:cNvPr id="26" name="Shape 23"/>
          <p:cNvSpPr/>
          <p:nvPr/>
        </p:nvSpPr>
        <p:spPr>
          <a:xfrm>
            <a:off x="4457700" y="4270248"/>
            <a:ext cx="548640" cy="54864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4"/>
          <p:cNvSpPr/>
          <p:nvPr/>
        </p:nvSpPr>
        <p:spPr>
          <a:xfrm>
            <a:off x="4457700" y="4270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3520440" y="49103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 Android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3520440" y="52120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Cristopher Paredes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3566160" y="55138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UsageStatsManager, permisos, horarios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217920" y="40690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8F1F5"/>
          </a:solidFill>
          <a:ln/>
        </p:spPr>
      </p:sp>
      <p:sp>
        <p:nvSpPr>
          <p:cNvPr id="32" name="Shape 29"/>
          <p:cNvSpPr/>
          <p:nvPr/>
        </p:nvSpPr>
        <p:spPr>
          <a:xfrm>
            <a:off x="7246620" y="4270248"/>
            <a:ext cx="548640" cy="548640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33" name="Text 30"/>
          <p:cNvSpPr/>
          <p:nvPr/>
        </p:nvSpPr>
        <p:spPr>
          <a:xfrm>
            <a:off x="7246620" y="4270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By</a:t>
            </a:r>
            <a:endParaRPr lang="en-US" sz="1500" dirty="0"/>
          </a:p>
        </p:txBody>
      </p:sp>
      <p:sp>
        <p:nvSpPr>
          <p:cNvPr id="34" name="Text 31"/>
          <p:cNvSpPr/>
          <p:nvPr/>
        </p:nvSpPr>
        <p:spPr>
          <a:xfrm>
            <a:off x="6309360" y="49103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 y Backend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6309360" y="52120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Martin Muñoz</a:t>
            </a:r>
            <a:endParaRPr lang="en-US" sz="1050" dirty="0"/>
          </a:p>
        </p:txBody>
      </p:sp>
      <p:sp>
        <p:nvSpPr>
          <p:cNvPr id="36" name="Text 33"/>
          <p:cNvSpPr/>
          <p:nvPr/>
        </p:nvSpPr>
        <p:spPr>
          <a:xfrm>
            <a:off x="6355080" y="55138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Room/SQLite, Django REST, PostgreSQL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9006840" y="4069080"/>
            <a:ext cx="2606040" cy="1965960"/>
          </a:xfrm>
          <a:prstGeom prst="roundRect">
            <a:avLst>
              <a:gd name="adj" fmla="val 4651"/>
            </a:avLst>
          </a:prstGeom>
          <a:solidFill>
            <a:srgbClr val="E8F1F5"/>
          </a:solidFill>
          <a:ln/>
        </p:spPr>
      </p:sp>
      <p:sp>
        <p:nvSpPr>
          <p:cNvPr id="38" name="Shape 35"/>
          <p:cNvSpPr/>
          <p:nvPr/>
        </p:nvSpPr>
        <p:spPr>
          <a:xfrm>
            <a:off x="10035540" y="4270248"/>
            <a:ext cx="548640" cy="548640"/>
          </a:xfrm>
          <a:prstGeom prst="ellipse">
            <a:avLst/>
          </a:prstGeom>
          <a:solidFill>
            <a:srgbClr val="F96167"/>
          </a:solidFill>
          <a:ln/>
        </p:spPr>
      </p:sp>
      <p:sp>
        <p:nvSpPr>
          <p:cNvPr id="39" name="Text 36"/>
          <p:cNvSpPr/>
          <p:nvPr/>
        </p:nvSpPr>
        <p:spPr>
          <a:xfrm>
            <a:off x="10035540" y="427024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</a:t>
            </a:r>
            <a:endParaRPr lang="en-US" sz="1500" dirty="0"/>
          </a:p>
        </p:txBody>
      </p:sp>
      <p:sp>
        <p:nvSpPr>
          <p:cNvPr id="40" name="Text 37"/>
          <p:cNvSpPr/>
          <p:nvPr/>
        </p:nvSpPr>
        <p:spPr>
          <a:xfrm>
            <a:off x="9098280" y="4910328"/>
            <a:ext cx="2423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e Informes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098280" y="521208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Cristóbal Monsalves</a:t>
            </a:r>
            <a:endParaRPr lang="en-US" sz="1050" dirty="0"/>
          </a:p>
        </p:txBody>
      </p:sp>
      <p:sp>
        <p:nvSpPr>
          <p:cNvPr id="42" name="Text 39"/>
          <p:cNvSpPr/>
          <p:nvPr/>
        </p:nvSpPr>
        <p:spPr>
          <a:xfrm>
            <a:off x="9144000" y="5513832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9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PIN/hash, informes, estadísticas</a:t>
            </a:r>
            <a:endParaRPr lang="en-US" sz="950" dirty="0"/>
          </a:p>
        </p:txBody>
      </p:sp>
      <p:sp>
        <p:nvSpPr>
          <p:cNvPr id="43" name="Text 4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 — Proyecto APT</a:t>
            </a:r>
            <a:endParaRPr lang="en-US" sz="1000" dirty="0"/>
          </a:p>
        </p:txBody>
      </p:sp>
      <p:sp>
        <p:nvSpPr>
          <p:cNvPr id="44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45" name="Picture 2">
            <a:extLst>
              <a:ext uri="{FF2B5EF4-FFF2-40B4-BE49-F238E27FC236}">
                <a16:creationId xmlns:a16="http://schemas.microsoft.com/office/drawing/2014/main" id="{E46BF7DE-11F2-405A-B031-1FD17031AC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479" y="0"/>
            <a:ext cx="3619216" cy="88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nexo_ppt/icons/arquitectur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Tecnológico y Arquitectura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9050">
            <a:solidFill>
              <a:srgbClr val="E8F1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4173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Arquitectura MVVM (MVP local)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182880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828800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— Jetpack Compose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017520" y="2542032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</a:rPr>
              <a:t>↓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65176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" y="2651760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ViewModel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017520" y="3364992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</a:rPr>
              <a:t>↓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347472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065A82"/>
          </a:solidFill>
          <a:ln/>
        </p:spPr>
      </p:sp>
      <p:sp>
        <p:nvSpPr>
          <p:cNvPr id="14" name="Text 11"/>
          <p:cNvSpPr/>
          <p:nvPr/>
        </p:nvSpPr>
        <p:spPr>
          <a:xfrm>
            <a:off x="640080" y="3474720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017520" y="4187952"/>
            <a:ext cx="36576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7293"/>
                </a:solidFill>
              </a:rPr>
              <a:t>↓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4297680"/>
            <a:ext cx="5120640" cy="713232"/>
          </a:xfrm>
          <a:prstGeom prst="roundRect">
            <a:avLst>
              <a:gd name="adj" fmla="val 10256"/>
            </a:avLst>
          </a:prstGeom>
          <a:solidFill>
            <a:srgbClr val="21295C"/>
          </a:solidFill>
          <a:ln/>
        </p:spPr>
      </p:sp>
      <p:sp>
        <p:nvSpPr>
          <p:cNvPr id="17" name="Text 14"/>
          <p:cNvSpPr/>
          <p:nvPr/>
        </p:nvSpPr>
        <p:spPr>
          <a:xfrm>
            <a:off x="640080" y="4297680"/>
            <a:ext cx="5120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/ SQLite  ·  UsageStatsManager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080760" y="1417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tecnológico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6080760" y="18288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8F1F5"/>
          </a:solidFill>
          <a:ln/>
        </p:spPr>
      </p:sp>
      <p:sp>
        <p:nvSpPr>
          <p:cNvPr id="20" name="Shape 17"/>
          <p:cNvSpPr/>
          <p:nvPr/>
        </p:nvSpPr>
        <p:spPr>
          <a:xfrm>
            <a:off x="6245352" y="208483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1" descr="/home/claude/nexo_ppt/icons/co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5936" y="2185416"/>
            <a:ext cx="201168" cy="20116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766560" y="182880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8778240" y="182880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8F1F5"/>
          </a:solidFill>
          <a:ln/>
        </p:spPr>
      </p:sp>
      <p:sp>
        <p:nvSpPr>
          <p:cNvPr id="24" name="Shape 20"/>
          <p:cNvSpPr/>
          <p:nvPr/>
        </p:nvSpPr>
        <p:spPr>
          <a:xfrm>
            <a:off x="8942832" y="208483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5" name="Image 2" descr="/home/claude/nexo_ppt/icons/ge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43416" y="2185416"/>
            <a:ext cx="201168" cy="20116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9464040" y="182880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Studio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6080760" y="28803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8F1F5"/>
          </a:solidFill>
          <a:ln/>
        </p:spPr>
      </p:sp>
      <p:sp>
        <p:nvSpPr>
          <p:cNvPr id="28" name="Shape 23"/>
          <p:cNvSpPr/>
          <p:nvPr/>
        </p:nvSpPr>
        <p:spPr>
          <a:xfrm>
            <a:off x="6245352" y="313639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9" name="Image 3" descr="/home/claude/nexo_ppt/icons/pho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3236976"/>
            <a:ext cx="201168" cy="201168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6766560" y="288036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Jetpack Compose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8778240" y="288036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8F1F5"/>
          </a:solidFill>
          <a:ln/>
        </p:spPr>
      </p:sp>
      <p:sp>
        <p:nvSpPr>
          <p:cNvPr id="32" name="Shape 26"/>
          <p:cNvSpPr/>
          <p:nvPr/>
        </p:nvSpPr>
        <p:spPr>
          <a:xfrm>
            <a:off x="8942832" y="313639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3" name="Image 4" descr="/home/claude/nexo_ppt/icons/d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43416" y="3236976"/>
            <a:ext cx="201168" cy="201168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9464040" y="288036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/ SQLite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6080760" y="393192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8F1F5"/>
          </a:solidFill>
          <a:ln/>
        </p:spPr>
      </p:sp>
      <p:sp>
        <p:nvSpPr>
          <p:cNvPr id="36" name="Shape 29"/>
          <p:cNvSpPr/>
          <p:nvPr/>
        </p:nvSpPr>
        <p:spPr>
          <a:xfrm>
            <a:off x="6245352" y="418795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7" name="Image 5" descr="/home/claude/nexo_ppt/icons/cloc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45936" y="4288536"/>
            <a:ext cx="201168" cy="20116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766560" y="393192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WorkManager</a:t>
            </a:r>
            <a:endParaRPr lang="en-US" sz="1200" dirty="0"/>
          </a:p>
        </p:txBody>
      </p:sp>
      <p:sp>
        <p:nvSpPr>
          <p:cNvPr id="39" name="Shape 31"/>
          <p:cNvSpPr/>
          <p:nvPr/>
        </p:nvSpPr>
        <p:spPr>
          <a:xfrm>
            <a:off x="8778240" y="3931920"/>
            <a:ext cx="2514600" cy="914400"/>
          </a:xfrm>
          <a:prstGeom prst="roundRect">
            <a:avLst>
              <a:gd name="adj" fmla="val 8000"/>
            </a:avLst>
          </a:prstGeom>
          <a:solidFill>
            <a:srgbClr val="E8F1F5"/>
          </a:solidFill>
          <a:ln/>
        </p:spPr>
      </p:sp>
      <p:sp>
        <p:nvSpPr>
          <p:cNvPr id="40" name="Shape 32"/>
          <p:cNvSpPr/>
          <p:nvPr/>
        </p:nvSpPr>
        <p:spPr>
          <a:xfrm>
            <a:off x="8942832" y="418795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1" name="Image 6" descr="/home/claude/nexo_ppt/icons/targ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43416" y="4288536"/>
            <a:ext cx="201168" cy="20116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9464040" y="3931920"/>
            <a:ext cx="1691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UsageStatsManager</a:t>
            </a:r>
            <a:endParaRPr lang="en-US" sz="1200" dirty="0"/>
          </a:p>
        </p:txBody>
      </p:sp>
      <p:sp>
        <p:nvSpPr>
          <p:cNvPr id="43" name="Shape 34"/>
          <p:cNvSpPr/>
          <p:nvPr/>
        </p:nvSpPr>
        <p:spPr>
          <a:xfrm>
            <a:off x="640080" y="5349240"/>
            <a:ext cx="10881360" cy="822960"/>
          </a:xfrm>
          <a:prstGeom prst="roundRect">
            <a:avLst>
              <a:gd name="adj" fmla="val 8889"/>
            </a:avLst>
          </a:prstGeom>
          <a:solidFill>
            <a:srgbClr val="E8F1F5"/>
          </a:solidFill>
          <a:ln w="9525">
            <a:solidFill>
              <a:srgbClr val="1C7293"/>
            </a:solidFill>
            <a:prstDash val="dash"/>
          </a:ln>
        </p:spPr>
      </p:sp>
      <p:sp>
        <p:nvSpPr>
          <p:cNvPr id="44" name="Shape 35"/>
          <p:cNvSpPr/>
          <p:nvPr/>
        </p:nvSpPr>
        <p:spPr>
          <a:xfrm>
            <a:off x="868680" y="5559552"/>
            <a:ext cx="402336" cy="402336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5" name="Image 7" descr="/home/claude/nexo_ppt/icons/clou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9264" y="5660136"/>
            <a:ext cx="201168" cy="201168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1371600" y="5349240"/>
            <a:ext cx="9966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futuro (fuera del MVP): </a:t>
            </a:r>
            <a:r>
              <a:rPr lang="en-US" sz="12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con Django REST Framework + PostgreSQL, para sincronización, cuentas y envío de informes por correo.</a:t>
            </a:r>
            <a:endParaRPr lang="en-US" sz="1250" dirty="0"/>
          </a:p>
        </p:txBody>
      </p:sp>
      <p:sp>
        <p:nvSpPr>
          <p:cNvPr id="47" name="Text 3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 — Proyecto APT</a:t>
            </a:r>
            <a:endParaRPr lang="en-US" sz="1000" dirty="0"/>
          </a:p>
        </p:txBody>
      </p:sp>
      <p:sp>
        <p:nvSpPr>
          <p:cNvPr id="48" name="Text 3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pic>
        <p:nvPicPr>
          <p:cNvPr id="49" name="Picture 2">
            <a:extLst>
              <a:ext uri="{FF2B5EF4-FFF2-40B4-BE49-F238E27FC236}">
                <a16:creationId xmlns:a16="http://schemas.microsoft.com/office/drawing/2014/main" id="{7D744280-6B13-4DB4-88E1-53ED87E3CB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479" y="0"/>
            <a:ext cx="3619216" cy="88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nexo_ppt/icons/competenc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Competencias del Perfil de Egreso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9050">
            <a:solidFill>
              <a:srgbClr val="E8F1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55448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E8F1F5"/>
          </a:solidFill>
          <a:ln/>
        </p:spPr>
      </p:sp>
      <p:sp>
        <p:nvSpPr>
          <p:cNvPr id="7" name="Shape 4"/>
          <p:cNvSpPr/>
          <p:nvPr/>
        </p:nvSpPr>
        <p:spPr>
          <a:xfrm>
            <a:off x="868680" y="17830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8686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554480" y="175564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soluciones de software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24231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Aplicando el ciclo de vida del software y mejores prácticas de la industria en el desarrollo de NEXO.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63640" y="155448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E8F1F5"/>
          </a:solidFill>
          <a:ln/>
        </p:spPr>
      </p:sp>
      <p:sp>
        <p:nvSpPr>
          <p:cNvPr id="12" name="Shape 9"/>
          <p:cNvSpPr/>
          <p:nvPr/>
        </p:nvSpPr>
        <p:spPr>
          <a:xfrm>
            <a:off x="6492240" y="17830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/>
        </p:spPr>
      </p:sp>
      <p:sp>
        <p:nvSpPr>
          <p:cNvPr id="13" name="Text 10"/>
          <p:cNvSpPr/>
          <p:nvPr/>
        </p:nvSpPr>
        <p:spPr>
          <a:xfrm>
            <a:off x="649224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7178040" y="175564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bases de datos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6537960" y="242316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 soluciones para requerimientos de información con Room/SQLite (local) y PostgreSQL (futuro).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37947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E8F1F5"/>
          </a:solidFill>
          <a:ln/>
        </p:spPr>
      </p:sp>
      <p:sp>
        <p:nvSpPr>
          <p:cNvPr id="17" name="Shape 14"/>
          <p:cNvSpPr/>
          <p:nvPr/>
        </p:nvSpPr>
        <p:spPr>
          <a:xfrm>
            <a:off x="868680" y="40233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/>
        </p:spPr>
      </p:sp>
      <p:sp>
        <p:nvSpPr>
          <p:cNvPr id="18" name="Text 15"/>
          <p:cNvSpPr/>
          <p:nvPr/>
        </p:nvSpPr>
        <p:spPr>
          <a:xfrm>
            <a:off x="86868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554480" y="399592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requisitos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914400" y="46634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metodologías y estándares para levantar y acotar el alcance del MVP.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63640" y="3794760"/>
            <a:ext cx="5257800" cy="1920240"/>
          </a:xfrm>
          <a:prstGeom prst="roundRect">
            <a:avLst>
              <a:gd name="adj" fmla="val 4762"/>
            </a:avLst>
          </a:prstGeom>
          <a:solidFill>
            <a:srgbClr val="E8F1F5"/>
          </a:solidFill>
          <a:ln/>
        </p:spPr>
      </p:sp>
      <p:sp>
        <p:nvSpPr>
          <p:cNvPr id="22" name="Shape 19"/>
          <p:cNvSpPr/>
          <p:nvPr/>
        </p:nvSpPr>
        <p:spPr>
          <a:xfrm>
            <a:off x="6492240" y="40233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065A82"/>
          </a:solidFill>
          <a:ln/>
        </p:spPr>
      </p:sp>
      <p:sp>
        <p:nvSpPr>
          <p:cNvPr id="23" name="Text 20"/>
          <p:cNvSpPr/>
          <p:nvPr/>
        </p:nvSpPr>
        <p:spPr>
          <a:xfrm>
            <a:off x="6492240" y="40233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7178040" y="399592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y gestión de proyectos TI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6537960" y="46634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definidos, control de versiones (GitHub) y planificación por etapas durante todo el ciclo de vida.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 — Proyecto APT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B311381C-30C4-404B-BE55-B08CB93954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479" y="0"/>
            <a:ext cx="3619216" cy="88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F96167"/>
          </a:solidFill>
          <a:ln/>
        </p:spPr>
      </p:sp>
      <p:pic>
        <p:nvPicPr>
          <p:cNvPr id="3" name="Image 0" descr="/home/claude/nexo_ppt/icons/riesg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9050">
            <a:solidFill>
              <a:srgbClr val="E8F1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40080" y="15087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8F1F5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167335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Restricciones de Android en 2º plano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4846320" y="1673352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F96167"/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167335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2075688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Podrían limitar la granularidad de los datos de uso obtenidos.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68680" y="2679192"/>
            <a:ext cx="4800600" cy="0"/>
          </a:xfrm>
          <a:prstGeom prst="line">
            <a:avLst/>
          </a:prstGeom>
          <a:noFill/>
          <a:ln w="6350">
            <a:solidFill>
              <a:srgbClr val="1C729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770632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r>
              <a:rPr lang="en-US" sz="11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factibilidad técnica de UsageStatsManager como primera actividad del plan.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263640" y="150876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8F1F5"/>
          </a:solidFill>
          <a:ln/>
        </p:spPr>
      </p:sp>
      <p:sp>
        <p:nvSpPr>
          <p:cNvPr id="14" name="Text 11"/>
          <p:cNvSpPr/>
          <p:nvPr/>
        </p:nvSpPr>
        <p:spPr>
          <a:xfrm>
            <a:off x="6492240" y="167335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Sobrealcance del proyecto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10469880" y="1673352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D98E04"/>
          </a:solidFill>
          <a:ln/>
        </p:spPr>
      </p:sp>
      <p:sp>
        <p:nvSpPr>
          <p:cNvPr id="16" name="Text 13"/>
          <p:cNvSpPr/>
          <p:nvPr/>
        </p:nvSpPr>
        <p:spPr>
          <a:xfrm>
            <a:off x="10469880" y="167335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492240" y="2075688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Tentación de agregar GPS, bloqueo de apps u otras funciones no planificadas.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492240" y="2679192"/>
            <a:ext cx="4800600" cy="0"/>
          </a:xfrm>
          <a:prstGeom prst="line">
            <a:avLst/>
          </a:prstGeom>
          <a:noFill/>
          <a:ln w="6350">
            <a:solidFill>
              <a:srgbClr val="1C729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92240" y="2770632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r>
              <a:rPr lang="en-US" sz="11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del MVP acotado y validado con el docente; funciones avanzadas quedan como trabajo futuro.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640080" y="37490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8F1F5"/>
          </a:solidFill>
          <a:ln/>
        </p:spPr>
      </p:sp>
      <p:sp>
        <p:nvSpPr>
          <p:cNvPr id="21" name="Text 18"/>
          <p:cNvSpPr/>
          <p:nvPr/>
        </p:nvSpPr>
        <p:spPr>
          <a:xfrm>
            <a:off x="868680" y="391363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Dependencia de dispositivo físico</a:t>
            </a:r>
            <a:endParaRPr lang="en-US" sz="1350" dirty="0"/>
          </a:p>
        </p:txBody>
      </p:sp>
      <p:sp>
        <p:nvSpPr>
          <p:cNvPr id="22" name="Shape 19"/>
          <p:cNvSpPr/>
          <p:nvPr/>
        </p:nvSpPr>
        <p:spPr>
          <a:xfrm>
            <a:off x="4846320" y="3913632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D98E04"/>
          </a:solidFill>
          <a:ln/>
        </p:spPr>
      </p:sp>
      <p:sp>
        <p:nvSpPr>
          <p:cNvPr id="23" name="Text 20"/>
          <p:cNvSpPr/>
          <p:nvPr/>
        </p:nvSpPr>
        <p:spPr>
          <a:xfrm>
            <a:off x="4846320" y="391363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Medio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68680" y="4315968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permisos de uso no se comportan igual en un emulador.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68680" y="4919472"/>
            <a:ext cx="4800600" cy="0"/>
          </a:xfrm>
          <a:prstGeom prst="line">
            <a:avLst/>
          </a:prstGeom>
          <a:noFill/>
          <a:ln w="6350">
            <a:solidFill>
              <a:srgbClr val="1C729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8680" y="5010912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r>
              <a:rPr lang="en-US" sz="11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equipo cuenta con al menos un teléfono Android físico para pruebas reales.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6263640" y="3749040"/>
            <a:ext cx="5257800" cy="1965960"/>
          </a:xfrm>
          <a:prstGeom prst="roundRect">
            <a:avLst>
              <a:gd name="adj" fmla="val 4651"/>
            </a:avLst>
          </a:prstGeom>
          <a:solidFill>
            <a:srgbClr val="E8F1F5"/>
          </a:solidFill>
          <a:ln/>
        </p:spPr>
      </p:sp>
      <p:sp>
        <p:nvSpPr>
          <p:cNvPr id="28" name="Text 25"/>
          <p:cNvSpPr/>
          <p:nvPr/>
        </p:nvSpPr>
        <p:spPr>
          <a:xfrm>
            <a:off x="6492240" y="3913632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Percepción de invasión de privacidad</a:t>
            </a:r>
            <a:endParaRPr lang="en-US" sz="1350" dirty="0"/>
          </a:p>
        </p:txBody>
      </p:sp>
      <p:sp>
        <p:nvSpPr>
          <p:cNvPr id="29" name="Shape 26"/>
          <p:cNvSpPr/>
          <p:nvPr/>
        </p:nvSpPr>
        <p:spPr>
          <a:xfrm>
            <a:off x="10469880" y="3913632"/>
            <a:ext cx="822960" cy="310896"/>
          </a:xfrm>
          <a:prstGeom prst="roundRect">
            <a:avLst>
              <a:gd name="adj" fmla="val 50000"/>
            </a:avLst>
          </a:prstGeom>
          <a:solidFill>
            <a:srgbClr val="2C8C5A"/>
          </a:solidFill>
          <a:ln/>
        </p:spPr>
      </p:sp>
      <p:sp>
        <p:nvSpPr>
          <p:cNvPr id="30" name="Text 27"/>
          <p:cNvSpPr/>
          <p:nvPr/>
        </p:nvSpPr>
        <p:spPr>
          <a:xfrm>
            <a:off x="10469880" y="391363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Bajo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492240" y="4315968"/>
            <a:ext cx="4800600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Preocupación de usuarios sobre supervisión oculta o excesiva.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492240" y="4919472"/>
            <a:ext cx="4800600" cy="0"/>
          </a:xfrm>
          <a:prstGeom prst="line">
            <a:avLst/>
          </a:prstGeom>
          <a:noFill/>
          <a:ln w="6350">
            <a:solidFill>
              <a:srgbClr val="1C7293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92240" y="5010912"/>
            <a:ext cx="4800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Mitigación: </a:t>
            </a:r>
            <a:r>
              <a:rPr lang="en-US" sz="11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de mínima recopilación: solo apps, duración y horario — nunca contenido privado.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 — Proyecto APT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36" name="Picture 2">
            <a:extLst>
              <a:ext uri="{FF2B5EF4-FFF2-40B4-BE49-F238E27FC236}">
                <a16:creationId xmlns:a16="http://schemas.microsoft.com/office/drawing/2014/main" id="{7F71F884-9F1E-4E2A-8FD1-8368BEA527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479" y="0"/>
            <a:ext cx="3619216" cy="88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4572000"/>
            <a:ext cx="5486400" cy="5486400"/>
          </a:xfrm>
          <a:prstGeom prst="ellipse">
            <a:avLst/>
          </a:prstGeom>
          <a:solidFill>
            <a:srgbClr val="1C7293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" name="Image 0" descr="/home/claude/nexo_ppt/icons/segurid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1463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Protección del PIN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1965960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9" name="Image 1" descr="/home/claude/nexo_ppt/icons/p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214884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196596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ingresado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40080" y="2651760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</a:rPr>
              <a:t>↓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640080" y="2834640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3" name="Image 2" descr="/home/claude/nexo_ppt/icons/p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01752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283464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hash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640080" y="3520440"/>
            <a:ext cx="4937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C7293"/>
                </a:solidFill>
              </a:rPr>
              <a:t>↓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40080" y="3703320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1A3A5C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7" name="Image 3" descr="/home/claude/nexo_ppt/icons/p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3886200"/>
            <a:ext cx="320040" cy="3200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3703320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seguro (Android Keystore)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640080" y="46634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PIN protege la modificación de horarios, aplicaciones supervisadas y configuración general. Nunca se almacena como texto plano.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03504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Principio de mínima recopilación</a:t>
            </a:r>
            <a:endParaRPr lang="en-US" sz="1500" dirty="0"/>
          </a:p>
        </p:txBody>
      </p:sp>
      <p:sp>
        <p:nvSpPr>
          <p:cNvPr id="21" name="Shape 15"/>
          <p:cNvSpPr/>
          <p:nvPr/>
        </p:nvSpPr>
        <p:spPr>
          <a:xfrm>
            <a:off x="6035040" y="1965960"/>
            <a:ext cx="2606040" cy="3246120"/>
          </a:xfrm>
          <a:prstGeom prst="roundRect">
            <a:avLst>
              <a:gd name="adj" fmla="val 3509"/>
            </a:avLst>
          </a:prstGeom>
          <a:solidFill>
            <a:srgbClr val="1A3A5C"/>
          </a:solidFill>
          <a:ln/>
        </p:spPr>
      </p:sp>
      <p:sp>
        <p:nvSpPr>
          <p:cNvPr id="22" name="Text 16"/>
          <p:cNvSpPr/>
          <p:nvPr/>
        </p:nvSpPr>
        <p:spPr>
          <a:xfrm>
            <a:off x="6263640" y="2148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FD3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Sí recopila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263640" y="2606040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Nombre de app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263640" y="2990088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Package name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263640" y="3374136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Duración de uso</a:t>
            </a:r>
            <a:endParaRPr lang="en-US" sz="1150" dirty="0"/>
          </a:p>
        </p:txBody>
      </p:sp>
      <p:sp>
        <p:nvSpPr>
          <p:cNvPr id="26" name="Text 20"/>
          <p:cNvSpPr/>
          <p:nvPr/>
        </p:nvSpPr>
        <p:spPr>
          <a:xfrm>
            <a:off x="6263640" y="375818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Fecha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6263640" y="4142232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Horario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8823960" y="1965960"/>
            <a:ext cx="2743200" cy="3246120"/>
          </a:xfrm>
          <a:prstGeom prst="roundRect">
            <a:avLst>
              <a:gd name="adj" fmla="val 3333"/>
            </a:avLst>
          </a:prstGeom>
          <a:solidFill>
            <a:srgbClr val="1A3A5C"/>
          </a:solidFill>
          <a:ln/>
        </p:spPr>
      </p:sp>
      <p:sp>
        <p:nvSpPr>
          <p:cNvPr id="29" name="Text 23"/>
          <p:cNvSpPr/>
          <p:nvPr/>
        </p:nvSpPr>
        <p:spPr>
          <a:xfrm>
            <a:off x="905256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recopila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9052560" y="260604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Contraseñas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9052560" y="299008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Mensajes / chats</a:t>
            </a:r>
            <a:endParaRPr lang="en-US" sz="1150" dirty="0"/>
          </a:p>
        </p:txBody>
      </p:sp>
      <p:sp>
        <p:nvSpPr>
          <p:cNvPr id="32" name="Text 26"/>
          <p:cNvSpPr/>
          <p:nvPr/>
        </p:nvSpPr>
        <p:spPr>
          <a:xfrm>
            <a:off x="9052560" y="337413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Conversaciones privadas</a:t>
            </a:r>
            <a:endParaRPr lang="en-US" sz="1150" dirty="0"/>
          </a:p>
        </p:txBody>
      </p:sp>
      <p:sp>
        <p:nvSpPr>
          <p:cNvPr id="33" name="Text 27"/>
          <p:cNvSpPr/>
          <p:nvPr/>
        </p:nvSpPr>
        <p:spPr>
          <a:xfrm>
            <a:off x="9052560" y="37581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Fotografías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9052560" y="414223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Capturas de pantalla</a:t>
            </a:r>
            <a:endParaRPr lang="en-US" sz="1150" dirty="0"/>
          </a:p>
        </p:txBody>
      </p:sp>
      <p:sp>
        <p:nvSpPr>
          <p:cNvPr id="35" name="Text 29"/>
          <p:cNvSpPr/>
          <p:nvPr/>
        </p:nvSpPr>
        <p:spPr>
          <a:xfrm>
            <a:off x="6035040" y="5394960"/>
            <a:ext cx="5532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mecanismos oficiales de Android (UsageStatsManager) — sin supervisión oculta, sin spyware.</a:t>
            </a:r>
            <a:endParaRPr lang="en-US" sz="1200" dirty="0"/>
          </a:p>
        </p:txBody>
      </p:sp>
      <p:sp>
        <p:nvSpPr>
          <p:cNvPr id="36" name="Text 3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 — Proyecto APT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pic>
        <p:nvPicPr>
          <p:cNvPr id="38" name="Picture 2">
            <a:extLst>
              <a:ext uri="{FF2B5EF4-FFF2-40B4-BE49-F238E27FC236}">
                <a16:creationId xmlns:a16="http://schemas.microsoft.com/office/drawing/2014/main" id="{CD55C887-41B3-4884-996B-6790F034AF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479" y="0"/>
            <a:ext cx="3619216" cy="88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nexo_ppt/icons/negoc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Negocio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9050">
            <a:solidFill>
              <a:srgbClr val="E8F1F5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417320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 nace como un proyecto académico (APT); esta sección plantea una proyección conceptual de viabilidad, no un objetivo del MVP.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640080" y="1965960"/>
            <a:ext cx="3502152" cy="1600200"/>
          </a:xfrm>
          <a:prstGeom prst="roundRect">
            <a:avLst>
              <a:gd name="adj" fmla="val 5714"/>
            </a:avLst>
          </a:prstGeom>
          <a:solidFill>
            <a:srgbClr val="E8F1F5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10312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468880"/>
            <a:ext cx="31363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Padres y apoderados de niños/adolescentes en edad escolar con teléfono propio en Chile.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25112" y="1965960"/>
            <a:ext cx="3502152" cy="1600200"/>
          </a:xfrm>
          <a:prstGeom prst="roundRect">
            <a:avLst>
              <a:gd name="adj" fmla="val 5714"/>
            </a:avLst>
          </a:prstGeom>
          <a:solidFill>
            <a:srgbClr val="E8F1F5"/>
          </a:solidFill>
          <a:ln/>
        </p:spPr>
      </p:sp>
      <p:sp>
        <p:nvSpPr>
          <p:cNvPr id="11" name="Text 8"/>
          <p:cNvSpPr/>
          <p:nvPr/>
        </p:nvSpPr>
        <p:spPr>
          <a:xfrm>
            <a:off x="4507992" y="210312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4507992" y="2468880"/>
            <a:ext cx="31363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Supervisión específica por jornadas, no vigilancia total del dispositivo.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10144" y="1965960"/>
            <a:ext cx="3502152" cy="1600200"/>
          </a:xfrm>
          <a:prstGeom prst="roundRect">
            <a:avLst>
              <a:gd name="adj" fmla="val 5714"/>
            </a:avLst>
          </a:prstGeom>
          <a:solidFill>
            <a:srgbClr val="E8F1F5"/>
          </a:solidFill>
          <a:ln/>
        </p:spPr>
      </p:sp>
      <p:sp>
        <p:nvSpPr>
          <p:cNvPr id="14" name="Text 11"/>
          <p:cNvSpPr/>
          <p:nvPr/>
        </p:nvSpPr>
        <p:spPr>
          <a:xfrm>
            <a:off x="8193024" y="210312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93024" y="2468880"/>
            <a:ext cx="313639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directa vía Google Play; posible alianza con colegios.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640080" y="3794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Posible modelo de monetización futura (freemium)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40080" y="425196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065A82"/>
          </a:solidFill>
          <a:ln/>
        </p:spPr>
      </p:sp>
      <p:sp>
        <p:nvSpPr>
          <p:cNvPr id="18" name="Text 15"/>
          <p:cNvSpPr/>
          <p:nvPr/>
        </p:nvSpPr>
        <p:spPr>
          <a:xfrm>
            <a:off x="822960" y="438912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22960" y="4754880"/>
            <a:ext cx="31363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local: 1 jornada, informes en el dispositivo, sin sincronización.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325112" y="425196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1C7293"/>
          </a:solidFill>
          <a:ln/>
        </p:spPr>
      </p:sp>
      <p:sp>
        <p:nvSpPr>
          <p:cNvPr id="21" name="Text 18"/>
          <p:cNvSpPr/>
          <p:nvPr/>
        </p:nvSpPr>
        <p:spPr>
          <a:xfrm>
            <a:off x="4507992" y="438912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507992" y="4754880"/>
            <a:ext cx="31363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Jornadas múltiples, informes por correo, backend con sincronización en la nube.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010144" y="425196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21295C"/>
          </a:solidFill>
          <a:ln/>
        </p:spPr>
      </p:sp>
      <p:sp>
        <p:nvSpPr>
          <p:cNvPr id="24" name="Text 21"/>
          <p:cNvSpPr/>
          <p:nvPr/>
        </p:nvSpPr>
        <p:spPr>
          <a:xfrm>
            <a:off x="8193024" y="4389120"/>
            <a:ext cx="313639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Institucional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8193024" y="4754880"/>
            <a:ext cx="313639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Licenciamiento a colegios para acompañar políticas de uso responsable.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 — Proyecto APT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pic>
        <p:nvPicPr>
          <p:cNvPr id="28" name="Picture 2">
            <a:extLst>
              <a:ext uri="{FF2B5EF4-FFF2-40B4-BE49-F238E27FC236}">
                <a16:creationId xmlns:a16="http://schemas.microsoft.com/office/drawing/2014/main" id="{0C8E5DD8-A808-4F14-83AD-660292290E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479" y="0"/>
            <a:ext cx="3619216" cy="88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/home/claude/nexo_ppt/icons/mock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60350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384048"/>
            <a:ext cx="9601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548640" y="1170432"/>
            <a:ext cx="11064240" cy="0"/>
          </a:xfrm>
          <a:prstGeom prst="line">
            <a:avLst/>
          </a:prstGeom>
          <a:noFill/>
          <a:ln w="19050">
            <a:solidFill>
              <a:srgbClr val="E8F1F5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11480" y="1600200"/>
            <a:ext cx="1965960" cy="4114800"/>
          </a:xfrm>
          <a:prstGeom prst="roundRect">
            <a:avLst>
              <a:gd name="adj" fmla="val 10233"/>
            </a:avLst>
          </a:prstGeom>
          <a:solidFill>
            <a:srgbClr val="21295C"/>
          </a:solidFill>
          <a:ln/>
        </p:spPr>
      </p:sp>
      <p:sp>
        <p:nvSpPr>
          <p:cNvPr id="7" name="Shape 4"/>
          <p:cNvSpPr/>
          <p:nvPr/>
        </p:nvSpPr>
        <p:spPr>
          <a:xfrm>
            <a:off x="493776" y="1746504"/>
            <a:ext cx="1801368" cy="3822192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/>
        </p:spPr>
      </p:sp>
      <p:sp>
        <p:nvSpPr>
          <p:cNvPr id="8" name="Shape 5"/>
          <p:cNvSpPr/>
          <p:nvPr/>
        </p:nvSpPr>
        <p:spPr>
          <a:xfrm>
            <a:off x="493776" y="1746504"/>
            <a:ext cx="1801368" cy="50292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9" name="Text 6"/>
          <p:cNvSpPr/>
          <p:nvPr/>
        </p:nvSpPr>
        <p:spPr>
          <a:xfrm>
            <a:off x="594360" y="1746504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Inicio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4360" y="2377440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E8F1F5"/>
          </a:solidFill>
          <a:ln/>
        </p:spPr>
      </p:sp>
      <p:sp>
        <p:nvSpPr>
          <p:cNvPr id="11" name="Text 8"/>
          <p:cNvSpPr/>
          <p:nvPr/>
        </p:nvSpPr>
        <p:spPr>
          <a:xfrm>
            <a:off x="667512" y="237744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Jornada: Escolar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594360" y="2834640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E8F1F5"/>
          </a:solidFill>
          <a:ln/>
        </p:spPr>
      </p:sp>
      <p:sp>
        <p:nvSpPr>
          <p:cNvPr id="13" name="Text 10"/>
          <p:cNvSpPr/>
          <p:nvPr/>
        </p:nvSpPr>
        <p:spPr>
          <a:xfrm>
            <a:off x="667512" y="283464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 – 14:00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594360" y="3291840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E8F1F5"/>
          </a:solidFill>
          <a:ln/>
        </p:spPr>
      </p:sp>
      <p:sp>
        <p:nvSpPr>
          <p:cNvPr id="15" name="Text 12"/>
          <p:cNvSpPr/>
          <p:nvPr/>
        </p:nvSpPr>
        <p:spPr>
          <a:xfrm>
            <a:off x="667512" y="329184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Estado: ACTIVA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606040" y="1600200"/>
            <a:ext cx="1965960" cy="4114800"/>
          </a:xfrm>
          <a:prstGeom prst="roundRect">
            <a:avLst>
              <a:gd name="adj" fmla="val 10233"/>
            </a:avLst>
          </a:prstGeom>
          <a:solidFill>
            <a:srgbClr val="21295C"/>
          </a:solidFill>
          <a:ln/>
        </p:spPr>
      </p:sp>
      <p:sp>
        <p:nvSpPr>
          <p:cNvPr id="17" name="Shape 14"/>
          <p:cNvSpPr/>
          <p:nvPr/>
        </p:nvSpPr>
        <p:spPr>
          <a:xfrm>
            <a:off x="2688336" y="1746504"/>
            <a:ext cx="1801368" cy="3822192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/>
        </p:spPr>
      </p:sp>
      <p:sp>
        <p:nvSpPr>
          <p:cNvPr id="18" name="Shape 15"/>
          <p:cNvSpPr/>
          <p:nvPr/>
        </p:nvSpPr>
        <p:spPr>
          <a:xfrm>
            <a:off x="2688336" y="1746504"/>
            <a:ext cx="1801368" cy="502920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9" name="Text 16"/>
          <p:cNvSpPr/>
          <p:nvPr/>
        </p:nvSpPr>
        <p:spPr>
          <a:xfrm>
            <a:off x="2788920" y="1746504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Actividad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2788920" y="2377440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E8F1F5"/>
          </a:solidFill>
          <a:ln/>
        </p:spPr>
      </p:sp>
      <p:sp>
        <p:nvSpPr>
          <p:cNvPr id="21" name="Text 18"/>
          <p:cNvSpPr/>
          <p:nvPr/>
        </p:nvSpPr>
        <p:spPr>
          <a:xfrm>
            <a:off x="2862072" y="237744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— 42 min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788920" y="2834640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E8F1F5"/>
          </a:solidFill>
          <a:ln/>
        </p:spPr>
      </p:sp>
      <p:sp>
        <p:nvSpPr>
          <p:cNvPr id="23" name="Text 20"/>
          <p:cNvSpPr/>
          <p:nvPr/>
        </p:nvSpPr>
        <p:spPr>
          <a:xfrm>
            <a:off x="2862072" y="283464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 — 21 min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2788920" y="3291840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E8F1F5"/>
          </a:solidFill>
          <a:ln/>
        </p:spPr>
      </p:sp>
      <p:sp>
        <p:nvSpPr>
          <p:cNvPr id="25" name="Text 22"/>
          <p:cNvSpPr/>
          <p:nvPr/>
        </p:nvSpPr>
        <p:spPr>
          <a:xfrm>
            <a:off x="2862072" y="329184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— 13 min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4800600" y="1600200"/>
            <a:ext cx="1965960" cy="4114800"/>
          </a:xfrm>
          <a:prstGeom prst="roundRect">
            <a:avLst>
              <a:gd name="adj" fmla="val 10233"/>
            </a:avLst>
          </a:prstGeom>
          <a:solidFill>
            <a:srgbClr val="21295C"/>
          </a:solidFill>
          <a:ln/>
        </p:spPr>
      </p:sp>
      <p:sp>
        <p:nvSpPr>
          <p:cNvPr id="27" name="Shape 24"/>
          <p:cNvSpPr/>
          <p:nvPr/>
        </p:nvSpPr>
        <p:spPr>
          <a:xfrm>
            <a:off x="4882896" y="1746504"/>
            <a:ext cx="1801368" cy="3822192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4882896" y="1746504"/>
            <a:ext cx="1801368" cy="502920"/>
          </a:xfrm>
          <a:prstGeom prst="roundRect">
            <a:avLst/>
          </a:prstGeom>
          <a:solidFill>
            <a:srgbClr val="21295C"/>
          </a:solidFill>
          <a:ln/>
        </p:spPr>
      </p:sp>
      <p:sp>
        <p:nvSpPr>
          <p:cNvPr id="29" name="Text 26"/>
          <p:cNvSpPr/>
          <p:nvPr/>
        </p:nvSpPr>
        <p:spPr>
          <a:xfrm>
            <a:off x="4983480" y="1746504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Estadísticas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983480" y="2377440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E8F1F5"/>
          </a:solidFill>
          <a:ln/>
        </p:spPr>
      </p:sp>
      <p:sp>
        <p:nvSpPr>
          <p:cNvPr id="31" name="Text 28"/>
          <p:cNvSpPr/>
          <p:nvPr/>
        </p:nvSpPr>
        <p:spPr>
          <a:xfrm>
            <a:off x="5056632" y="237744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Educación 50 min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983480" y="2834640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E8F1F5"/>
          </a:solidFill>
          <a:ln/>
        </p:spPr>
      </p:sp>
      <p:sp>
        <p:nvSpPr>
          <p:cNvPr id="33" name="Text 30"/>
          <p:cNvSpPr/>
          <p:nvPr/>
        </p:nvSpPr>
        <p:spPr>
          <a:xfrm>
            <a:off x="5056632" y="283464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13 min</a:t>
            </a:r>
            <a:endParaRPr lang="en-US" sz="900" dirty="0"/>
          </a:p>
        </p:txBody>
      </p:sp>
      <p:sp>
        <p:nvSpPr>
          <p:cNvPr id="34" name="Shape 31"/>
          <p:cNvSpPr/>
          <p:nvPr/>
        </p:nvSpPr>
        <p:spPr>
          <a:xfrm>
            <a:off x="4983480" y="3291840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E8F1F5"/>
          </a:solidFill>
          <a:ln/>
        </p:spPr>
      </p:sp>
      <p:sp>
        <p:nvSpPr>
          <p:cNvPr id="35" name="Text 32"/>
          <p:cNvSpPr/>
          <p:nvPr/>
        </p:nvSpPr>
        <p:spPr>
          <a:xfrm>
            <a:off x="5056632" y="329184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Entretenim. 21 min</a:t>
            </a:r>
            <a:endParaRPr lang="en-US" sz="900" dirty="0"/>
          </a:p>
        </p:txBody>
      </p:sp>
      <p:sp>
        <p:nvSpPr>
          <p:cNvPr id="36" name="Shape 33"/>
          <p:cNvSpPr/>
          <p:nvPr/>
        </p:nvSpPr>
        <p:spPr>
          <a:xfrm>
            <a:off x="6995160" y="1600200"/>
            <a:ext cx="1965960" cy="4114800"/>
          </a:xfrm>
          <a:prstGeom prst="roundRect">
            <a:avLst>
              <a:gd name="adj" fmla="val 10233"/>
            </a:avLst>
          </a:prstGeom>
          <a:solidFill>
            <a:srgbClr val="21295C"/>
          </a:solidFill>
          <a:ln/>
        </p:spPr>
      </p:sp>
      <p:sp>
        <p:nvSpPr>
          <p:cNvPr id="37" name="Shape 34"/>
          <p:cNvSpPr/>
          <p:nvPr/>
        </p:nvSpPr>
        <p:spPr>
          <a:xfrm>
            <a:off x="7077456" y="1746504"/>
            <a:ext cx="1801368" cy="3822192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/>
        </p:spPr>
      </p:sp>
      <p:sp>
        <p:nvSpPr>
          <p:cNvPr id="38" name="Shape 35"/>
          <p:cNvSpPr/>
          <p:nvPr/>
        </p:nvSpPr>
        <p:spPr>
          <a:xfrm>
            <a:off x="7077456" y="1746504"/>
            <a:ext cx="1801368" cy="502920"/>
          </a:xfrm>
          <a:prstGeom prst="roundRect">
            <a:avLst/>
          </a:prstGeom>
          <a:solidFill>
            <a:srgbClr val="F96167"/>
          </a:solidFill>
          <a:ln/>
        </p:spPr>
      </p:sp>
      <p:sp>
        <p:nvSpPr>
          <p:cNvPr id="39" name="Text 36"/>
          <p:cNvSpPr/>
          <p:nvPr/>
        </p:nvSpPr>
        <p:spPr>
          <a:xfrm>
            <a:off x="7178040" y="1746504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🕐 Mis Jornadas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7178040" y="2377440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E8F1F5"/>
          </a:solidFill>
          <a:ln/>
        </p:spPr>
      </p:sp>
      <p:sp>
        <p:nvSpPr>
          <p:cNvPr id="41" name="Text 38"/>
          <p:cNvSpPr/>
          <p:nvPr/>
        </p:nvSpPr>
        <p:spPr>
          <a:xfrm>
            <a:off x="7251192" y="237744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Jornada escolar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7178040" y="2834640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E8F1F5"/>
          </a:solidFill>
          <a:ln/>
        </p:spPr>
      </p:sp>
      <p:sp>
        <p:nvSpPr>
          <p:cNvPr id="43" name="Text 40"/>
          <p:cNvSpPr/>
          <p:nvPr/>
        </p:nvSpPr>
        <p:spPr>
          <a:xfrm>
            <a:off x="7251192" y="283464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Estudio 17–19h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7178040" y="3291840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E8F1F5"/>
          </a:solidFill>
          <a:ln/>
        </p:spPr>
      </p:sp>
      <p:sp>
        <p:nvSpPr>
          <p:cNvPr id="45" name="Text 42"/>
          <p:cNvSpPr/>
          <p:nvPr/>
        </p:nvSpPr>
        <p:spPr>
          <a:xfrm>
            <a:off x="7251192" y="329184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Crear jornada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9189720" y="1600200"/>
            <a:ext cx="1965960" cy="4114800"/>
          </a:xfrm>
          <a:prstGeom prst="roundRect">
            <a:avLst>
              <a:gd name="adj" fmla="val 10233"/>
            </a:avLst>
          </a:prstGeom>
          <a:solidFill>
            <a:srgbClr val="21295C"/>
          </a:solidFill>
          <a:ln/>
        </p:spPr>
      </p:sp>
      <p:sp>
        <p:nvSpPr>
          <p:cNvPr id="47" name="Shape 44"/>
          <p:cNvSpPr/>
          <p:nvPr/>
        </p:nvSpPr>
        <p:spPr>
          <a:xfrm>
            <a:off x="9272016" y="1746504"/>
            <a:ext cx="1801368" cy="3822192"/>
          </a:xfrm>
          <a:prstGeom prst="roundRect">
            <a:avLst>
              <a:gd name="adj" fmla="val 6091"/>
            </a:avLst>
          </a:prstGeom>
          <a:solidFill>
            <a:srgbClr val="FFFFFF"/>
          </a:solidFill>
          <a:ln/>
        </p:spPr>
      </p:sp>
      <p:sp>
        <p:nvSpPr>
          <p:cNvPr id="48" name="Shape 45"/>
          <p:cNvSpPr/>
          <p:nvPr/>
        </p:nvSpPr>
        <p:spPr>
          <a:xfrm>
            <a:off x="9272016" y="1746504"/>
            <a:ext cx="1801368" cy="502920"/>
          </a:xfrm>
          <a:prstGeom prst="roundRect">
            <a:avLst/>
          </a:prstGeom>
          <a:solidFill>
            <a:srgbClr val="065A82"/>
          </a:solidFill>
          <a:ln/>
        </p:spPr>
      </p:sp>
      <p:sp>
        <p:nvSpPr>
          <p:cNvPr id="49" name="Text 46"/>
          <p:cNvSpPr/>
          <p:nvPr/>
        </p:nvSpPr>
        <p:spPr>
          <a:xfrm>
            <a:off x="9372600" y="1746504"/>
            <a:ext cx="1600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PIN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9372600" y="2377440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E8F1F5"/>
          </a:solidFill>
          <a:ln/>
        </p:spPr>
      </p:sp>
      <p:sp>
        <p:nvSpPr>
          <p:cNvPr id="51" name="Text 48"/>
          <p:cNvSpPr/>
          <p:nvPr/>
        </p:nvSpPr>
        <p:spPr>
          <a:xfrm>
            <a:off x="9445752" y="237744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Ingrese PIN</a:t>
            </a:r>
            <a:endParaRPr lang="en-US" sz="900" dirty="0"/>
          </a:p>
        </p:txBody>
      </p:sp>
      <p:sp>
        <p:nvSpPr>
          <p:cNvPr id="52" name="Shape 49"/>
          <p:cNvSpPr/>
          <p:nvPr/>
        </p:nvSpPr>
        <p:spPr>
          <a:xfrm>
            <a:off x="9372600" y="2834640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E8F1F5"/>
          </a:solidFill>
          <a:ln/>
        </p:spPr>
      </p:sp>
      <p:sp>
        <p:nvSpPr>
          <p:cNvPr id="53" name="Text 50"/>
          <p:cNvSpPr/>
          <p:nvPr/>
        </p:nvSpPr>
        <p:spPr>
          <a:xfrm>
            <a:off x="9445752" y="283464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● ● ●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9372600" y="3291840"/>
            <a:ext cx="1600200" cy="365760"/>
          </a:xfrm>
          <a:prstGeom prst="roundRect">
            <a:avLst>
              <a:gd name="adj" fmla="val 15000"/>
            </a:avLst>
          </a:prstGeom>
          <a:solidFill>
            <a:srgbClr val="E8F1F5"/>
          </a:solidFill>
          <a:ln/>
        </p:spPr>
      </p:sp>
      <p:sp>
        <p:nvSpPr>
          <p:cNvPr id="55" name="Text 52"/>
          <p:cNvSpPr/>
          <p:nvPr/>
        </p:nvSpPr>
        <p:spPr>
          <a:xfrm>
            <a:off x="9445752" y="3291840"/>
            <a:ext cx="1453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</a:t>
            </a:r>
            <a:endParaRPr lang="en-US" sz="900" dirty="0"/>
          </a:p>
        </p:txBody>
      </p:sp>
      <p:sp>
        <p:nvSpPr>
          <p:cNvPr id="56" name="Text 53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configuración inicial → PIN → permisos de uso → jornadas → informe de actividad</a:t>
            </a:r>
            <a:endParaRPr lang="en-US" sz="1200" dirty="0"/>
          </a:p>
        </p:txBody>
      </p:sp>
      <p:sp>
        <p:nvSpPr>
          <p:cNvPr id="57" name="Text 5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 — Proyecto APT</a:t>
            </a:r>
            <a:endParaRPr lang="en-US" sz="1000" dirty="0"/>
          </a:p>
        </p:txBody>
      </p:sp>
      <p:sp>
        <p:nvSpPr>
          <p:cNvPr id="58" name="Text 5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59" name="Picture 2">
            <a:extLst>
              <a:ext uri="{FF2B5EF4-FFF2-40B4-BE49-F238E27FC236}">
                <a16:creationId xmlns:a16="http://schemas.microsoft.com/office/drawing/2014/main" id="{1FB58EDF-9BC3-4731-9AE8-8513F69984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479" y="0"/>
            <a:ext cx="3619216" cy="88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1C7293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367528" y="548640"/>
            <a:ext cx="1188720" cy="1188720"/>
          </a:xfrm>
          <a:prstGeom prst="ellipse">
            <a:avLst/>
          </a:prstGeom>
          <a:solidFill>
            <a:srgbClr val="065A82"/>
          </a:solidFill>
          <a:ln w="15240">
            <a:solidFill>
              <a:srgbClr val="FFFFFF"/>
            </a:solidFill>
            <a:prstDash val="solid"/>
          </a:ln>
        </p:spPr>
      </p:sp>
      <p:pic>
        <p:nvPicPr>
          <p:cNvPr id="4" name="Image 0" descr="/home/claude/nexo_ppt/icons/conclu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1848" y="82296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187452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1463040" y="2514600"/>
            <a:ext cx="92354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NEXO propone un enfoque específico y ético de supervisión parental: informar por contextos, no vigilar todo el tiempo — usando solo lo que Android permite oficialmente.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822960" y="365760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1A3A5C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3794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1005840" y="4251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de factibilidad de UsageStatsManager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526280" y="365760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1A3A5C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09160" y="3794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4709160" y="4251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local funcional (sin backend)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229600" y="3657600"/>
            <a:ext cx="3383280" cy="1463040"/>
          </a:xfrm>
          <a:prstGeom prst="roundRect">
            <a:avLst>
              <a:gd name="adj" fmla="val 6250"/>
            </a:avLst>
          </a:prstGeom>
          <a:solidFill>
            <a:srgbClr val="1A3A5C"/>
          </a:solidFill>
          <a:ln w="9525">
            <a:solidFill>
              <a:srgbClr val="1C72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0" y="3794760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8412480" y="425196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y defensa del proyecto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22960" y="32918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0" y="5486400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Matias Esquerra · Cristopher Paredes · Martin Muñoz · Cristóbal Monsalves</a:t>
            </a:r>
            <a:endParaRPr lang="en-US" sz="1100" dirty="0"/>
          </a:p>
        </p:txBody>
      </p:sp>
      <p:pic>
        <p:nvPicPr>
          <p:cNvPr id="19" name="Picture 2">
            <a:extLst>
              <a:ext uri="{FF2B5EF4-FFF2-40B4-BE49-F238E27FC236}">
                <a16:creationId xmlns:a16="http://schemas.microsoft.com/office/drawing/2014/main" id="{574BEE0D-9C3B-457C-B8C2-5D7B19DD64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479" y="0"/>
            <a:ext cx="3619216" cy="889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1263</Words>
  <Application>Microsoft Office PowerPoint</Application>
  <PresentationFormat>Panorámica</PresentationFormat>
  <Paragraphs>263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matias.esquerra07@gmail.com</cp:lastModifiedBy>
  <cp:revision>2</cp:revision>
  <dcterms:created xsi:type="dcterms:W3CDTF">2026-09-01T01:14:20Z</dcterms:created>
  <dcterms:modified xsi:type="dcterms:W3CDTF">2026-09-01T02:06:51Z</dcterms:modified>
</cp:coreProperties>
</file>